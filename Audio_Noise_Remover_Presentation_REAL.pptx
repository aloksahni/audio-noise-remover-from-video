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page styled on the NIELIT/AMIETE proforma from your uploaded documents — replace the registration number and date on the printed report as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reflecting your actual project's real structure, ready to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facts here are drawn directly from your uploaded report, source code header, and certificate — no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inferred directly from what the GUI and code actually do — the four buttons in the interface map exactly to these four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the imports from the top of your source code: os, tkinter, moviepy.editor, scipy.io, noisereduce, tempfile, subprocess, playsound.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hard-coded ffmpeg_path in clean_audio() is a genuine portability limitation worth mentioning honestly — it's flagged again on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directly from the class structure of NoiseRemoverApp and the libraries imported at the top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screenshot (window open, a file loaded, progress bar mid-way) is one of the most-checked NIELIT submission requirements — take one before your final report is printed.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slide by literally reading clean_audio() alongside it — every box corresponds to a specific block of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captures the REAL control flow: the stereo→mono check, the FFmpeg returncode check, and the finally block that cleans up temp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Excerpt trimmed for slide space — the full constructor also wires the two Preview buttons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a 'technical understanding' viva question — be ready to explain WHY the first 5000 samples are used as the noise reference, and what would break that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-c:v copy flag specifically if asked 'why is this fast?' — it avoids the expensive step of re-encoding video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upfront that testing was qualitative, not quantitative, is more credible than inventing precise numbers you didn't measure — examiners respect honesty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comparison table as before — the positioning holds for this real project too: automated, offline, and fully transparent/modifiable Python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real limitations honestly is exactly what NIELIT/AMIETE examiners look for — it demonstrates genuine understanding of your own code rather than overselling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here directly answers a limitation from the previous slide — a strong, coherent 'what's next' narrative for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drawn directly from what the code demonstrably does, not from aspirational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real 20-reference bibliography, reproduced exactly — reference 16 is your own project self-citation, standard practice for a student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Pulled directly from your Project Completion Certificate document — keep these consistent across every submitted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viva-prep questions built specifically from YOUR actual code's real design decisions — these are the questions an examiner who reads your code would genuinely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p:bgPr>
    </p:bg>
    <p:spTree>
      <p:nvGrpSpPr>
        <p:cNvPr id="1" name=""/>
        <p:cNvGrpSpPr/>
        <p:nvPr/>
      </p:nvGrpSpPr>
      <p:grpSpPr>
        <a:xfrm>
          <a:off x="0" y="0"/>
          <a:ext cx="0" cy="0"/>
          <a:chOff x="0" y="0"/>
          <a:chExt cx="0" cy="0"/>
        </a:xfrm>
      </p:grpSpPr>
      <p:pic>
        <p:nvPicPr>
          <p:cNvPr id="2" name="Image 0" descr="/home/claude/img/title_phasor.png">    </p:cNvPr>
          <p:cNvPicPr>
            <a:picLocks noChangeAspect="1"/>
          </p:cNvPicPr>
          <p:nvPr/>
        </p:nvPicPr>
        <p:blipFill>
          <a:blip r:embed="rId1"/>
          <a:stretch>
            <a:fillRect/>
          </a:stretch>
        </p:blipFill>
        <p:spPr>
          <a:xfrm>
            <a:off x="8229600" y="1600200"/>
            <a:ext cx="3657600" cy="3657600"/>
          </a:xfrm>
          <a:prstGeom prst="rect">
            <a:avLst/>
          </a:prstGeom>
        </p:spPr>
      </p:pic>
      <p:sp>
        <p:nvSpPr>
          <p:cNvPr id="3" name="Text 0"/>
          <p:cNvSpPr/>
          <p:nvPr/>
        </p:nvSpPr>
        <p:spPr>
          <a:xfrm>
            <a:off x="777240" y="1097280"/>
            <a:ext cx="7406640" cy="365760"/>
          </a:xfrm>
          <a:prstGeom prst="rect">
            <a:avLst/>
          </a:prstGeom>
          <a:noFill/>
          <a:ln/>
        </p:spPr>
        <p:txBody>
          <a:bodyPr wrap="square" lIns="0" tIns="0" rIns="0" bIns="0" rtlCol="0" anchor="ctr"/>
          <a:lstStyle/>
          <a:p>
            <a:pPr indent="0" marL="0">
              <a:buNone/>
            </a:pPr>
            <a:r>
              <a:rPr lang="en-US" sz="1300" b="1" spc="200" kern="0" dirty="0">
                <a:solidFill>
                  <a:srgbClr val="FFB300"/>
                </a:solidFill>
                <a:latin typeface="Calibri" pitchFamily="34" charset="0"/>
                <a:ea typeface="Calibri" pitchFamily="34" charset="-122"/>
                <a:cs typeface="Calibri" pitchFamily="34" charset="-120"/>
              </a:rPr>
              <a:t>A PROJECT REPORT PRESENTATION ON</a:t>
            </a:r>
            <a:endParaRPr lang="en-US" sz="1300" dirty="0"/>
          </a:p>
        </p:txBody>
      </p:sp>
      <p:sp>
        <p:nvSpPr>
          <p:cNvPr id="4" name="Text 1"/>
          <p:cNvSpPr/>
          <p:nvPr/>
        </p:nvSpPr>
        <p:spPr>
          <a:xfrm>
            <a:off x="731520" y="1508760"/>
            <a:ext cx="7863840" cy="146304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Audio Noise Remover</a:t>
            </a:r>
            <a:endParaRPr lang="en-US" sz="4200" dirty="0"/>
          </a:p>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from Video</a:t>
            </a:r>
            <a:endParaRPr lang="en-US" sz="4200" dirty="0"/>
          </a:p>
        </p:txBody>
      </p:sp>
      <p:sp>
        <p:nvSpPr>
          <p:cNvPr id="5" name="Text 2"/>
          <p:cNvSpPr/>
          <p:nvPr/>
        </p:nvSpPr>
        <p:spPr>
          <a:xfrm>
            <a:off x="777240" y="2926080"/>
            <a:ext cx="7863840" cy="411480"/>
          </a:xfrm>
          <a:prstGeom prst="rect">
            <a:avLst/>
          </a:prstGeom>
          <a:noFill/>
          <a:ln/>
        </p:spPr>
        <p:txBody>
          <a:bodyPr wrap="square" lIns="0" tIns="0" rIns="0" bIns="0" rtlCol="0" anchor="ctr"/>
          <a:lstStyle/>
          <a:p>
            <a:pPr indent="0" marL="0">
              <a:buNone/>
            </a:pPr>
            <a:r>
              <a:rPr lang="en-US" sz="1800" i="1" dirty="0">
                <a:solidFill>
                  <a:srgbClr val="CADCFC"/>
                </a:solidFill>
                <a:latin typeface="Cambria" pitchFamily="34" charset="0"/>
                <a:ea typeface="Cambria" pitchFamily="34" charset="-122"/>
                <a:cs typeface="Cambria" pitchFamily="34" charset="-120"/>
              </a:rPr>
              <a:t>(Audio Cleaner using Python)</a:t>
            </a:r>
            <a:endParaRPr lang="en-US" sz="1800" dirty="0"/>
          </a:p>
        </p:txBody>
      </p:sp>
      <p:sp>
        <p:nvSpPr>
          <p:cNvPr id="6" name="Text 3"/>
          <p:cNvSpPr/>
          <p:nvPr/>
        </p:nvSpPr>
        <p:spPr>
          <a:xfrm>
            <a:off x="777240" y="3429000"/>
            <a:ext cx="7863840" cy="320040"/>
          </a:xfrm>
          <a:prstGeom prst="rect">
            <a:avLst/>
          </a:prstGeom>
          <a:noFill/>
          <a:ln/>
        </p:spPr>
        <p:txBody>
          <a:bodyPr wrap="square" lIns="0" tIns="0" rIns="0" bIns="0" rtlCol="0" anchor="ctr"/>
          <a:lstStyle/>
          <a:p>
            <a:pPr indent="0" marL="0">
              <a:buNone/>
            </a:pPr>
            <a:r>
              <a:rPr lang="en-US" sz="1250" dirty="0">
                <a:solidFill>
                  <a:srgbClr val="AEBFD6"/>
                </a:solidFill>
                <a:latin typeface="Calibri" pitchFamily="34" charset="0"/>
                <a:ea typeface="Calibri" pitchFamily="34" charset="-122"/>
                <a:cs typeface="Calibri" pitchFamily="34" charset="-120"/>
              </a:rPr>
              <a:t>Submitted in partial fulfillment of NIELIT 'O' Level Examination</a:t>
            </a:r>
            <a:endParaRPr lang="en-US" sz="1250" dirty="0"/>
          </a:p>
        </p:txBody>
      </p:sp>
      <p:sp>
        <p:nvSpPr>
          <p:cNvPr id="7" name="Shape 4"/>
          <p:cNvSpPr/>
          <p:nvPr/>
        </p:nvSpPr>
        <p:spPr>
          <a:xfrm>
            <a:off x="777240" y="4023360"/>
            <a:ext cx="5120640" cy="1051560"/>
          </a:xfrm>
          <a:prstGeom prst="roundRect">
            <a:avLst>
              <a:gd name="adj" fmla="val 10435"/>
            </a:avLst>
          </a:prstGeom>
          <a:solidFill>
            <a:srgbClr val="1B3A5F"/>
          </a:solidFill>
          <a:ln/>
        </p:spPr>
      </p:sp>
      <p:sp>
        <p:nvSpPr>
          <p:cNvPr id="8" name="Text 5"/>
          <p:cNvSpPr/>
          <p:nvPr/>
        </p:nvSpPr>
        <p:spPr>
          <a:xfrm>
            <a:off x="960120" y="4114800"/>
            <a:ext cx="4754880" cy="914400"/>
          </a:xfrm>
          <a:prstGeom prst="rect">
            <a:avLst/>
          </a:prstGeom>
          <a:noFill/>
          <a:ln/>
        </p:spPr>
        <p:txBody>
          <a:bodyPr wrap="square" lIns="0" tIns="0" rIns="0" bIns="0" rtlCol="0" anchor="ctr"/>
          <a:lstStyle/>
          <a:p>
            <a:pPr indent="0" marL="0">
              <a:lnSpc>
                <a:spcPct val="130000"/>
              </a:lnSpc>
              <a:buNone/>
            </a:pPr>
            <a:r>
              <a:rPr lang="en-US" sz="1100" b="1" dirty="0">
                <a:solidFill>
                  <a:srgbClr val="FFB300"/>
                </a:solidFill>
                <a:latin typeface="Calibri" pitchFamily="34" charset="0"/>
                <a:ea typeface="Calibri" pitchFamily="34" charset="-122"/>
                <a:cs typeface="Calibri" pitchFamily="34" charset="-120"/>
              </a:rPr>
              <a:t>Submitted By: </a:t>
            </a:r>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Alok Sahni
</a:t>
            </a:r>
            <a:pPr indent="0" marL="0">
              <a:lnSpc>
                <a:spcPct val="130000"/>
              </a:lnSpc>
              <a:buNone/>
            </a:pPr>
            <a:r>
              <a:rPr lang="en-US" sz="1100" b="1" dirty="0">
                <a:solidFill>
                  <a:srgbClr val="FFB300"/>
                </a:solidFill>
                <a:latin typeface="Calibri" pitchFamily="34" charset="0"/>
                <a:ea typeface="Calibri" pitchFamily="34" charset="-122"/>
                <a:cs typeface="Calibri" pitchFamily="34" charset="-120"/>
              </a:rPr>
              <a:t>Guided By: </a:t>
            </a:r>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Tarun Verma, A Level (NIELIT), M.Sc. Computer Science (MGSU Bikaner)
</a:t>
            </a:r>
            <a:pPr indent="0" marL="0">
              <a:lnSpc>
                <a:spcPct val="130000"/>
              </a:lnSpc>
              <a:buNone/>
            </a:pPr>
            <a:r>
              <a:rPr lang="en-US" sz="1100" b="1" dirty="0">
                <a:solidFill>
                  <a:srgbClr val="FFB300"/>
                </a:solidFill>
                <a:latin typeface="Calibri" pitchFamily="34" charset="0"/>
                <a:ea typeface="Calibri" pitchFamily="34" charset="-122"/>
                <a:cs typeface="Calibri" pitchFamily="34" charset="-120"/>
              </a:rPr>
              <a:t>Institute: </a:t>
            </a:r>
            <a:pPr indent="0" marL="0">
              <a:lnSpc>
                <a:spcPct val="130000"/>
              </a:lnSpc>
              <a:buNone/>
            </a:pPr>
            <a:r>
              <a:rPr lang="en-US" sz="1100" dirty="0">
                <a:solidFill>
                  <a:srgbClr val="FFFFFF"/>
                </a:solidFill>
                <a:latin typeface="Calibri" pitchFamily="34" charset="0"/>
                <a:ea typeface="Calibri" pitchFamily="34" charset="-122"/>
                <a:cs typeface="Calibri" pitchFamily="34" charset="-120"/>
              </a:rPr>
              <a:t>C Institute, A-10, UIT Complex, M.P. Colony, Bikaner, Rajasthan</a:t>
            </a:r>
            <a:endParaRPr lang="en-US" sz="1100" dirty="0"/>
          </a:p>
        </p:txBody>
      </p:sp>
      <p:sp>
        <p:nvSpPr>
          <p:cNvPr id="9" name="Text 6"/>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8FA3BF"/>
                </a:solidFill>
                <a:latin typeface="Calibri" pitchFamily="34" charset="0"/>
                <a:ea typeface="Calibri" pitchFamily="34" charset="-122"/>
                <a:cs typeface="Calibri"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00897B"/>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What We'll Cover</a:t>
            </a:r>
            <a:endParaRPr lang="en-US" sz="3100" dirty="0"/>
          </a:p>
        </p:txBody>
      </p:sp>
      <p:sp>
        <p:nvSpPr>
          <p:cNvPr id="4" name="Shape 2"/>
          <p:cNvSpPr/>
          <p:nvPr/>
        </p:nvSpPr>
        <p:spPr>
          <a:xfrm>
            <a:off x="548640" y="1463040"/>
            <a:ext cx="3566160" cy="960120"/>
          </a:xfrm>
          <a:prstGeom prst="roundRect">
            <a:avLst>
              <a:gd name="adj" fmla="val 9524"/>
            </a:avLst>
          </a:prstGeom>
          <a:solidFill>
            <a:srgbClr val="F2F5F9"/>
          </a:solidFill>
          <a:ln w="20320">
            <a:solidFill>
              <a:srgbClr val="E53935"/>
            </a:solidFill>
            <a:prstDash val="solid"/>
          </a:ln>
        </p:spPr>
      </p:sp>
      <p:sp>
        <p:nvSpPr>
          <p:cNvPr id="5" name="Shape 3"/>
          <p:cNvSpPr/>
          <p:nvPr/>
        </p:nvSpPr>
        <p:spPr>
          <a:xfrm>
            <a:off x="731520" y="1719072"/>
            <a:ext cx="457200" cy="457200"/>
          </a:xfrm>
          <a:prstGeom prst="ellipse">
            <a:avLst/>
          </a:prstGeom>
          <a:solidFill>
            <a:srgbClr val="E53935"/>
          </a:solidFill>
          <a:ln/>
        </p:spPr>
      </p:sp>
      <p:sp>
        <p:nvSpPr>
          <p:cNvPr id="6" name="Text 4"/>
          <p:cNvSpPr/>
          <p:nvPr/>
        </p:nvSpPr>
        <p:spPr>
          <a:xfrm>
            <a:off x="731520" y="1719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25880" y="1554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Project Overview &amp; Problem Statement</a:t>
            </a:r>
            <a:endParaRPr lang="en-US" sz="1200" dirty="0"/>
          </a:p>
        </p:txBody>
      </p:sp>
      <p:sp>
        <p:nvSpPr>
          <p:cNvPr id="8" name="Shape 6"/>
          <p:cNvSpPr/>
          <p:nvPr/>
        </p:nvSpPr>
        <p:spPr>
          <a:xfrm>
            <a:off x="4343400" y="1463040"/>
            <a:ext cx="3566160" cy="960120"/>
          </a:xfrm>
          <a:prstGeom prst="roundRect">
            <a:avLst>
              <a:gd name="adj" fmla="val 9524"/>
            </a:avLst>
          </a:prstGeom>
          <a:solidFill>
            <a:srgbClr val="F2F5F9"/>
          </a:solidFill>
          <a:ln w="20320">
            <a:solidFill>
              <a:srgbClr val="F9A825"/>
            </a:solidFill>
            <a:prstDash val="solid"/>
          </a:ln>
        </p:spPr>
      </p:sp>
      <p:sp>
        <p:nvSpPr>
          <p:cNvPr id="9" name="Shape 7"/>
          <p:cNvSpPr/>
          <p:nvPr/>
        </p:nvSpPr>
        <p:spPr>
          <a:xfrm>
            <a:off x="4526280" y="1719072"/>
            <a:ext cx="457200" cy="457200"/>
          </a:xfrm>
          <a:prstGeom prst="ellipse">
            <a:avLst/>
          </a:prstGeom>
          <a:solidFill>
            <a:srgbClr val="F9A825"/>
          </a:solidFill>
          <a:ln/>
        </p:spPr>
      </p:sp>
      <p:sp>
        <p:nvSpPr>
          <p:cNvPr id="10" name="Text 8"/>
          <p:cNvSpPr/>
          <p:nvPr/>
        </p:nvSpPr>
        <p:spPr>
          <a:xfrm>
            <a:off x="4526280" y="1719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5120640" y="1554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Objectives &amp; Scope</a:t>
            </a:r>
            <a:endParaRPr lang="en-US" sz="1200" dirty="0"/>
          </a:p>
        </p:txBody>
      </p:sp>
      <p:sp>
        <p:nvSpPr>
          <p:cNvPr id="12" name="Shape 10"/>
          <p:cNvSpPr/>
          <p:nvPr/>
        </p:nvSpPr>
        <p:spPr>
          <a:xfrm>
            <a:off x="8138160" y="1463040"/>
            <a:ext cx="3566160" cy="960120"/>
          </a:xfrm>
          <a:prstGeom prst="roundRect">
            <a:avLst>
              <a:gd name="adj" fmla="val 9524"/>
            </a:avLst>
          </a:prstGeom>
          <a:solidFill>
            <a:srgbClr val="F2F5F9"/>
          </a:solidFill>
          <a:ln w="20320">
            <a:solidFill>
              <a:srgbClr val="1E88E5"/>
            </a:solidFill>
            <a:prstDash val="solid"/>
          </a:ln>
        </p:spPr>
      </p:sp>
      <p:sp>
        <p:nvSpPr>
          <p:cNvPr id="13" name="Shape 11"/>
          <p:cNvSpPr/>
          <p:nvPr/>
        </p:nvSpPr>
        <p:spPr>
          <a:xfrm>
            <a:off x="8321040" y="1719072"/>
            <a:ext cx="457200" cy="457200"/>
          </a:xfrm>
          <a:prstGeom prst="ellipse">
            <a:avLst/>
          </a:prstGeom>
          <a:solidFill>
            <a:srgbClr val="1E88E5"/>
          </a:solidFill>
          <a:ln/>
        </p:spPr>
      </p:sp>
      <p:sp>
        <p:nvSpPr>
          <p:cNvPr id="14" name="Text 12"/>
          <p:cNvSpPr/>
          <p:nvPr/>
        </p:nvSpPr>
        <p:spPr>
          <a:xfrm>
            <a:off x="8321040" y="1719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8915400" y="1554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Tools &amp; Technology Stack</a:t>
            </a:r>
            <a:endParaRPr lang="en-US" sz="1200" dirty="0"/>
          </a:p>
        </p:txBody>
      </p:sp>
      <p:sp>
        <p:nvSpPr>
          <p:cNvPr id="16" name="Shape 14"/>
          <p:cNvSpPr/>
          <p:nvPr/>
        </p:nvSpPr>
        <p:spPr>
          <a:xfrm>
            <a:off x="548640" y="2606040"/>
            <a:ext cx="3566160" cy="960120"/>
          </a:xfrm>
          <a:prstGeom prst="roundRect">
            <a:avLst>
              <a:gd name="adj" fmla="val 9524"/>
            </a:avLst>
          </a:prstGeom>
          <a:solidFill>
            <a:srgbClr val="F2F5F9"/>
          </a:solidFill>
          <a:ln w="20320">
            <a:solidFill>
              <a:srgbClr val="00897B"/>
            </a:solidFill>
            <a:prstDash val="solid"/>
          </a:ln>
        </p:spPr>
      </p:sp>
      <p:sp>
        <p:nvSpPr>
          <p:cNvPr id="17" name="Shape 15"/>
          <p:cNvSpPr/>
          <p:nvPr/>
        </p:nvSpPr>
        <p:spPr>
          <a:xfrm>
            <a:off x="731520" y="2862072"/>
            <a:ext cx="457200" cy="457200"/>
          </a:xfrm>
          <a:prstGeom prst="ellipse">
            <a:avLst/>
          </a:prstGeom>
          <a:solidFill>
            <a:srgbClr val="00897B"/>
          </a:solidFill>
          <a:ln/>
        </p:spPr>
      </p:sp>
      <p:sp>
        <p:nvSpPr>
          <p:cNvPr id="18" name="Text 16"/>
          <p:cNvSpPr/>
          <p:nvPr/>
        </p:nvSpPr>
        <p:spPr>
          <a:xfrm>
            <a:off x="73152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325880" y="2697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System Architecture</a:t>
            </a:r>
            <a:endParaRPr lang="en-US" sz="1200" dirty="0"/>
          </a:p>
        </p:txBody>
      </p:sp>
      <p:sp>
        <p:nvSpPr>
          <p:cNvPr id="20" name="Shape 18"/>
          <p:cNvSpPr/>
          <p:nvPr/>
        </p:nvSpPr>
        <p:spPr>
          <a:xfrm>
            <a:off x="4343400" y="2606040"/>
            <a:ext cx="3566160" cy="960120"/>
          </a:xfrm>
          <a:prstGeom prst="roundRect">
            <a:avLst>
              <a:gd name="adj" fmla="val 9524"/>
            </a:avLst>
          </a:prstGeom>
          <a:solidFill>
            <a:srgbClr val="F2F5F9"/>
          </a:solidFill>
          <a:ln w="20320">
            <a:solidFill>
              <a:srgbClr val="2E7D32"/>
            </a:solidFill>
            <a:prstDash val="solid"/>
          </a:ln>
        </p:spPr>
      </p:sp>
      <p:sp>
        <p:nvSpPr>
          <p:cNvPr id="21" name="Shape 19"/>
          <p:cNvSpPr/>
          <p:nvPr/>
        </p:nvSpPr>
        <p:spPr>
          <a:xfrm>
            <a:off x="4526280" y="2862072"/>
            <a:ext cx="457200" cy="457200"/>
          </a:xfrm>
          <a:prstGeom prst="ellipse">
            <a:avLst/>
          </a:prstGeom>
          <a:solidFill>
            <a:srgbClr val="2E7D32"/>
          </a:solidFill>
          <a:ln/>
        </p:spPr>
      </p:sp>
      <p:sp>
        <p:nvSpPr>
          <p:cNvPr id="22" name="Text 20"/>
          <p:cNvSpPr/>
          <p:nvPr/>
        </p:nvSpPr>
        <p:spPr>
          <a:xfrm>
            <a:off x="452628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p:nvPr/>
        </p:nvSpPr>
        <p:spPr>
          <a:xfrm>
            <a:off x="5120640" y="2697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Processing Pipeline</a:t>
            </a:r>
            <a:endParaRPr lang="en-US" sz="1200" dirty="0"/>
          </a:p>
        </p:txBody>
      </p:sp>
      <p:sp>
        <p:nvSpPr>
          <p:cNvPr id="24" name="Shape 22"/>
          <p:cNvSpPr/>
          <p:nvPr/>
        </p:nvSpPr>
        <p:spPr>
          <a:xfrm>
            <a:off x="8138160" y="2606040"/>
            <a:ext cx="3566160" cy="960120"/>
          </a:xfrm>
          <a:prstGeom prst="roundRect">
            <a:avLst>
              <a:gd name="adj" fmla="val 9524"/>
            </a:avLst>
          </a:prstGeom>
          <a:solidFill>
            <a:srgbClr val="F2F5F9"/>
          </a:solidFill>
          <a:ln w="20320">
            <a:solidFill>
              <a:srgbClr val="5E35B1"/>
            </a:solidFill>
            <a:prstDash val="solid"/>
          </a:ln>
        </p:spPr>
      </p:sp>
      <p:sp>
        <p:nvSpPr>
          <p:cNvPr id="25" name="Shape 23"/>
          <p:cNvSpPr/>
          <p:nvPr/>
        </p:nvSpPr>
        <p:spPr>
          <a:xfrm>
            <a:off x="8321040" y="2862072"/>
            <a:ext cx="457200" cy="457200"/>
          </a:xfrm>
          <a:prstGeom prst="ellipse">
            <a:avLst/>
          </a:prstGeom>
          <a:solidFill>
            <a:srgbClr val="5E35B1"/>
          </a:solidFill>
          <a:ln/>
        </p:spPr>
      </p:sp>
      <p:sp>
        <p:nvSpPr>
          <p:cNvPr id="26" name="Text 24"/>
          <p:cNvSpPr/>
          <p:nvPr/>
        </p:nvSpPr>
        <p:spPr>
          <a:xfrm>
            <a:off x="8321040" y="2862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7" name="Text 25"/>
          <p:cNvSpPr/>
          <p:nvPr/>
        </p:nvSpPr>
        <p:spPr>
          <a:xfrm>
            <a:off x="8915400" y="2697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Algorithm (from the actual code)</a:t>
            </a:r>
            <a:endParaRPr lang="en-US" sz="1200" dirty="0"/>
          </a:p>
        </p:txBody>
      </p:sp>
      <p:sp>
        <p:nvSpPr>
          <p:cNvPr id="28" name="Shape 26"/>
          <p:cNvSpPr/>
          <p:nvPr/>
        </p:nvSpPr>
        <p:spPr>
          <a:xfrm>
            <a:off x="548640" y="3749040"/>
            <a:ext cx="3566160" cy="960120"/>
          </a:xfrm>
          <a:prstGeom prst="roundRect">
            <a:avLst>
              <a:gd name="adj" fmla="val 9524"/>
            </a:avLst>
          </a:prstGeom>
          <a:solidFill>
            <a:srgbClr val="F2F5F9"/>
          </a:solidFill>
          <a:ln w="20320">
            <a:solidFill>
              <a:srgbClr val="FFB300"/>
            </a:solidFill>
            <a:prstDash val="solid"/>
          </a:ln>
        </p:spPr>
      </p:sp>
      <p:sp>
        <p:nvSpPr>
          <p:cNvPr id="29" name="Shape 27"/>
          <p:cNvSpPr/>
          <p:nvPr/>
        </p:nvSpPr>
        <p:spPr>
          <a:xfrm>
            <a:off x="731520" y="4005072"/>
            <a:ext cx="457200" cy="457200"/>
          </a:xfrm>
          <a:prstGeom prst="ellipse">
            <a:avLst/>
          </a:prstGeom>
          <a:solidFill>
            <a:srgbClr val="FFB300"/>
          </a:solidFill>
          <a:ln/>
        </p:spPr>
      </p:sp>
      <p:sp>
        <p:nvSpPr>
          <p:cNvPr id="30" name="Text 28"/>
          <p:cNvSpPr/>
          <p:nvPr/>
        </p:nvSpPr>
        <p:spPr>
          <a:xfrm>
            <a:off x="73152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1" name="Text 29"/>
          <p:cNvSpPr/>
          <p:nvPr/>
        </p:nvSpPr>
        <p:spPr>
          <a:xfrm>
            <a:off x="1325880" y="3840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Source Code Walkthrough</a:t>
            </a:r>
            <a:endParaRPr lang="en-US" sz="1200" dirty="0"/>
          </a:p>
        </p:txBody>
      </p:sp>
      <p:sp>
        <p:nvSpPr>
          <p:cNvPr id="32" name="Shape 30"/>
          <p:cNvSpPr/>
          <p:nvPr/>
        </p:nvSpPr>
        <p:spPr>
          <a:xfrm>
            <a:off x="4343400" y="3749040"/>
            <a:ext cx="3566160" cy="960120"/>
          </a:xfrm>
          <a:prstGeom prst="roundRect">
            <a:avLst>
              <a:gd name="adj" fmla="val 9524"/>
            </a:avLst>
          </a:prstGeom>
          <a:solidFill>
            <a:srgbClr val="F2F5F9"/>
          </a:solidFill>
          <a:ln w="20320">
            <a:solidFill>
              <a:srgbClr val="E53935"/>
            </a:solidFill>
            <a:prstDash val="solid"/>
          </a:ln>
        </p:spPr>
      </p:sp>
      <p:sp>
        <p:nvSpPr>
          <p:cNvPr id="33" name="Shape 31"/>
          <p:cNvSpPr/>
          <p:nvPr/>
        </p:nvSpPr>
        <p:spPr>
          <a:xfrm>
            <a:off x="4526280" y="4005072"/>
            <a:ext cx="457200" cy="457200"/>
          </a:xfrm>
          <a:prstGeom prst="ellipse">
            <a:avLst/>
          </a:prstGeom>
          <a:solidFill>
            <a:srgbClr val="E53935"/>
          </a:solidFill>
          <a:ln/>
        </p:spPr>
      </p:sp>
      <p:sp>
        <p:nvSpPr>
          <p:cNvPr id="34" name="Text 32"/>
          <p:cNvSpPr/>
          <p:nvPr/>
        </p:nvSpPr>
        <p:spPr>
          <a:xfrm>
            <a:off x="452628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35" name="Text 33"/>
          <p:cNvSpPr/>
          <p:nvPr/>
        </p:nvSpPr>
        <p:spPr>
          <a:xfrm>
            <a:off x="5120640" y="3840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GUI &amp; Application Flow</a:t>
            </a:r>
            <a:endParaRPr lang="en-US" sz="1200" dirty="0"/>
          </a:p>
        </p:txBody>
      </p:sp>
      <p:sp>
        <p:nvSpPr>
          <p:cNvPr id="36" name="Shape 34"/>
          <p:cNvSpPr/>
          <p:nvPr/>
        </p:nvSpPr>
        <p:spPr>
          <a:xfrm>
            <a:off x="8138160" y="3749040"/>
            <a:ext cx="3566160" cy="960120"/>
          </a:xfrm>
          <a:prstGeom prst="roundRect">
            <a:avLst>
              <a:gd name="adj" fmla="val 9524"/>
            </a:avLst>
          </a:prstGeom>
          <a:solidFill>
            <a:srgbClr val="F2F5F9"/>
          </a:solidFill>
          <a:ln w="20320">
            <a:solidFill>
              <a:srgbClr val="1E88E5"/>
            </a:solidFill>
            <a:prstDash val="solid"/>
          </a:ln>
        </p:spPr>
      </p:sp>
      <p:sp>
        <p:nvSpPr>
          <p:cNvPr id="37" name="Shape 35"/>
          <p:cNvSpPr/>
          <p:nvPr/>
        </p:nvSpPr>
        <p:spPr>
          <a:xfrm>
            <a:off x="8321040" y="4005072"/>
            <a:ext cx="457200" cy="457200"/>
          </a:xfrm>
          <a:prstGeom prst="ellipse">
            <a:avLst/>
          </a:prstGeom>
          <a:solidFill>
            <a:srgbClr val="1E88E5"/>
          </a:solidFill>
          <a:ln/>
        </p:spPr>
      </p:sp>
      <p:sp>
        <p:nvSpPr>
          <p:cNvPr id="38" name="Text 36"/>
          <p:cNvSpPr/>
          <p:nvPr/>
        </p:nvSpPr>
        <p:spPr>
          <a:xfrm>
            <a:off x="832104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9</a:t>
            </a:r>
            <a:endParaRPr lang="en-US" sz="1600" dirty="0"/>
          </a:p>
        </p:txBody>
      </p:sp>
      <p:sp>
        <p:nvSpPr>
          <p:cNvPr id="39" name="Text 37"/>
          <p:cNvSpPr/>
          <p:nvPr/>
        </p:nvSpPr>
        <p:spPr>
          <a:xfrm>
            <a:off x="8915400" y="3840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Testing &amp; Observed Output</a:t>
            </a:r>
            <a:endParaRPr lang="en-US" sz="1200" dirty="0"/>
          </a:p>
        </p:txBody>
      </p:sp>
      <p:sp>
        <p:nvSpPr>
          <p:cNvPr id="40" name="Shape 38"/>
          <p:cNvSpPr/>
          <p:nvPr/>
        </p:nvSpPr>
        <p:spPr>
          <a:xfrm>
            <a:off x="548640" y="4892040"/>
            <a:ext cx="3566160" cy="960120"/>
          </a:xfrm>
          <a:prstGeom prst="roundRect">
            <a:avLst>
              <a:gd name="adj" fmla="val 9524"/>
            </a:avLst>
          </a:prstGeom>
          <a:solidFill>
            <a:srgbClr val="F2F5F9"/>
          </a:solidFill>
          <a:ln w="20320">
            <a:solidFill>
              <a:srgbClr val="00897B"/>
            </a:solidFill>
            <a:prstDash val="solid"/>
          </a:ln>
        </p:spPr>
      </p:sp>
      <p:sp>
        <p:nvSpPr>
          <p:cNvPr id="41" name="Shape 39"/>
          <p:cNvSpPr/>
          <p:nvPr/>
        </p:nvSpPr>
        <p:spPr>
          <a:xfrm>
            <a:off x="731520" y="5148072"/>
            <a:ext cx="457200" cy="457200"/>
          </a:xfrm>
          <a:prstGeom prst="ellipse">
            <a:avLst/>
          </a:prstGeom>
          <a:solidFill>
            <a:srgbClr val="00897B"/>
          </a:solidFill>
          <a:ln/>
        </p:spPr>
      </p:sp>
      <p:sp>
        <p:nvSpPr>
          <p:cNvPr id="42" name="Text 40"/>
          <p:cNvSpPr/>
          <p:nvPr/>
        </p:nvSpPr>
        <p:spPr>
          <a:xfrm>
            <a:off x="731520" y="5148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10</a:t>
            </a:r>
            <a:endParaRPr lang="en-US" sz="1600" dirty="0"/>
          </a:p>
        </p:txBody>
      </p:sp>
      <p:sp>
        <p:nvSpPr>
          <p:cNvPr id="43" name="Text 41"/>
          <p:cNvSpPr/>
          <p:nvPr/>
        </p:nvSpPr>
        <p:spPr>
          <a:xfrm>
            <a:off x="1325880" y="4983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Comparison with Existing Tools</a:t>
            </a:r>
            <a:endParaRPr lang="en-US" sz="1200" dirty="0"/>
          </a:p>
        </p:txBody>
      </p:sp>
      <p:sp>
        <p:nvSpPr>
          <p:cNvPr id="44" name="Shape 42"/>
          <p:cNvSpPr/>
          <p:nvPr/>
        </p:nvSpPr>
        <p:spPr>
          <a:xfrm>
            <a:off x="4343400" y="4892040"/>
            <a:ext cx="3566160" cy="960120"/>
          </a:xfrm>
          <a:prstGeom prst="roundRect">
            <a:avLst>
              <a:gd name="adj" fmla="val 9524"/>
            </a:avLst>
          </a:prstGeom>
          <a:solidFill>
            <a:srgbClr val="F2F5F9"/>
          </a:solidFill>
          <a:ln w="20320">
            <a:solidFill>
              <a:srgbClr val="2E7D32"/>
            </a:solidFill>
            <a:prstDash val="solid"/>
          </a:ln>
        </p:spPr>
      </p:sp>
      <p:sp>
        <p:nvSpPr>
          <p:cNvPr id="45" name="Shape 43"/>
          <p:cNvSpPr/>
          <p:nvPr/>
        </p:nvSpPr>
        <p:spPr>
          <a:xfrm>
            <a:off x="4526280" y="5148072"/>
            <a:ext cx="457200" cy="457200"/>
          </a:xfrm>
          <a:prstGeom prst="ellipse">
            <a:avLst/>
          </a:prstGeom>
          <a:solidFill>
            <a:srgbClr val="2E7D32"/>
          </a:solidFill>
          <a:ln/>
        </p:spPr>
      </p:sp>
      <p:sp>
        <p:nvSpPr>
          <p:cNvPr id="46" name="Text 44"/>
          <p:cNvSpPr/>
          <p:nvPr/>
        </p:nvSpPr>
        <p:spPr>
          <a:xfrm>
            <a:off x="4526280" y="5148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47" name="Text 45"/>
          <p:cNvSpPr/>
          <p:nvPr/>
        </p:nvSpPr>
        <p:spPr>
          <a:xfrm>
            <a:off x="5120640" y="4983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Limitations &amp; Future Scope</a:t>
            </a:r>
            <a:endParaRPr lang="en-US" sz="1200" dirty="0"/>
          </a:p>
        </p:txBody>
      </p:sp>
      <p:sp>
        <p:nvSpPr>
          <p:cNvPr id="48" name="Shape 46"/>
          <p:cNvSpPr/>
          <p:nvPr/>
        </p:nvSpPr>
        <p:spPr>
          <a:xfrm>
            <a:off x="8138160" y="4892040"/>
            <a:ext cx="3566160" cy="960120"/>
          </a:xfrm>
          <a:prstGeom prst="roundRect">
            <a:avLst>
              <a:gd name="adj" fmla="val 9524"/>
            </a:avLst>
          </a:prstGeom>
          <a:solidFill>
            <a:srgbClr val="F2F5F9"/>
          </a:solidFill>
          <a:ln w="20320">
            <a:solidFill>
              <a:srgbClr val="5E35B1"/>
            </a:solidFill>
            <a:prstDash val="solid"/>
          </a:ln>
        </p:spPr>
      </p:sp>
      <p:sp>
        <p:nvSpPr>
          <p:cNvPr id="49" name="Shape 47"/>
          <p:cNvSpPr/>
          <p:nvPr/>
        </p:nvSpPr>
        <p:spPr>
          <a:xfrm>
            <a:off x="8321040" y="5148072"/>
            <a:ext cx="457200" cy="457200"/>
          </a:xfrm>
          <a:prstGeom prst="ellipse">
            <a:avLst/>
          </a:prstGeom>
          <a:solidFill>
            <a:srgbClr val="5E35B1"/>
          </a:solidFill>
          <a:ln/>
        </p:spPr>
      </p:sp>
      <p:sp>
        <p:nvSpPr>
          <p:cNvPr id="50" name="Text 48"/>
          <p:cNvSpPr/>
          <p:nvPr/>
        </p:nvSpPr>
        <p:spPr>
          <a:xfrm>
            <a:off x="8321040" y="5148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12</a:t>
            </a:r>
            <a:endParaRPr lang="en-US" sz="1600" dirty="0"/>
          </a:p>
        </p:txBody>
      </p:sp>
      <p:sp>
        <p:nvSpPr>
          <p:cNvPr id="51" name="Text 49"/>
          <p:cNvSpPr/>
          <p:nvPr/>
        </p:nvSpPr>
        <p:spPr>
          <a:xfrm>
            <a:off x="8915400" y="4983480"/>
            <a:ext cx="2651760" cy="777240"/>
          </a:xfrm>
          <a:prstGeom prst="rect">
            <a:avLst/>
          </a:prstGeom>
          <a:noFill/>
          <a:ln/>
        </p:spPr>
        <p:txBody>
          <a:bodyPr wrap="square" lIns="0" tIns="0" rIns="0" bIns="0" rtlCol="0" anchor="ctr"/>
          <a:lstStyle/>
          <a:p>
            <a:pPr indent="0" marL="0">
              <a:buNone/>
            </a:pPr>
            <a:r>
              <a:rPr lang="en-US" sz="1200" b="1" dirty="0">
                <a:solidFill>
                  <a:srgbClr val="10243E"/>
                </a:solidFill>
                <a:latin typeface="Calibri" pitchFamily="34" charset="0"/>
                <a:ea typeface="Calibri" pitchFamily="34" charset="-122"/>
                <a:cs typeface="Calibri" pitchFamily="34" charset="-120"/>
              </a:rPr>
              <a:t>Conclusion, Bibliography &amp; Q&amp;A</a:t>
            </a:r>
            <a:endParaRPr lang="en-US" sz="1200" dirty="0"/>
          </a:p>
        </p:txBody>
      </p:sp>
      <p:sp>
        <p:nvSpPr>
          <p:cNvPr id="52" name="Text 50"/>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E53935"/>
                </a:solidFill>
                <a:latin typeface="Calibri" pitchFamily="34" charset="0"/>
                <a:ea typeface="Calibri" pitchFamily="34" charset="-122"/>
                <a:cs typeface="Calibri" pitchFamily="34" charset="-120"/>
              </a:rPr>
              <a:t>PROJECT OVERVIEW</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Project Overview</a:t>
            </a:r>
            <a:endParaRPr lang="en-US" sz="3100" dirty="0"/>
          </a:p>
        </p:txBody>
      </p:sp>
      <p:sp>
        <p:nvSpPr>
          <p:cNvPr id="4" name="Shape 2"/>
          <p:cNvSpPr/>
          <p:nvPr/>
        </p:nvSpPr>
        <p:spPr>
          <a:xfrm>
            <a:off x="548640" y="1417320"/>
            <a:ext cx="11064240" cy="658368"/>
          </a:xfrm>
          <a:prstGeom prst="roundRect">
            <a:avLst>
              <a:gd name="adj" fmla="val 16667"/>
            </a:avLst>
          </a:prstGeom>
          <a:solidFill>
            <a:srgbClr val="F2F5F9"/>
          </a:solidFill>
          <a:ln/>
          <a:effectLst>
            <a:outerShdw sx="100000" sy="100000" kx="0" ky="0" algn="bl" rotWithShape="0" blurRad="101600" dist="25400" dir="5400000">
              <a:srgbClr val="94A3B8">
                <a:alpha val="28000"/>
              </a:srgbClr>
            </a:outerShdw>
          </a:effectLst>
        </p:spPr>
      </p:sp>
      <p:sp>
        <p:nvSpPr>
          <p:cNvPr id="5" name="Shape 3"/>
          <p:cNvSpPr/>
          <p:nvPr/>
        </p:nvSpPr>
        <p:spPr>
          <a:xfrm>
            <a:off x="548640" y="1417320"/>
            <a:ext cx="109728" cy="658368"/>
          </a:xfrm>
          <a:prstGeom prst="rect">
            <a:avLst/>
          </a:prstGeom>
          <a:solidFill>
            <a:srgbClr val="E53935"/>
          </a:solidFill>
          <a:ln/>
        </p:spPr>
      </p:sp>
      <p:sp>
        <p:nvSpPr>
          <p:cNvPr id="6" name="Text 4"/>
          <p:cNvSpPr/>
          <p:nvPr/>
        </p:nvSpPr>
        <p:spPr>
          <a:xfrm>
            <a:off x="822960" y="1463040"/>
            <a:ext cx="2103120" cy="566928"/>
          </a:xfrm>
          <a:prstGeom prst="rect">
            <a:avLst/>
          </a:prstGeom>
          <a:noFill/>
          <a:ln/>
        </p:spPr>
        <p:txBody>
          <a:bodyPr wrap="square" lIns="0" tIns="0" rIns="0" bIns="0" rtlCol="0" anchor="ctr"/>
          <a:lstStyle/>
          <a:p>
            <a:pPr indent="0" marL="0">
              <a:buNone/>
            </a:pPr>
            <a:r>
              <a:rPr lang="en-US" sz="1250" b="1" dirty="0">
                <a:solidFill>
                  <a:srgbClr val="E53935"/>
                </a:solidFill>
                <a:latin typeface="Calibri" pitchFamily="34" charset="0"/>
                <a:ea typeface="Calibri" pitchFamily="34" charset="-122"/>
                <a:cs typeface="Calibri" pitchFamily="34" charset="-120"/>
              </a:rPr>
              <a:t>Title</a:t>
            </a:r>
            <a:endParaRPr lang="en-US" sz="1250" dirty="0"/>
          </a:p>
        </p:txBody>
      </p:sp>
      <p:sp>
        <p:nvSpPr>
          <p:cNvPr id="7" name="Text 5"/>
          <p:cNvSpPr/>
          <p:nvPr/>
        </p:nvSpPr>
        <p:spPr>
          <a:xfrm>
            <a:off x="3017520" y="1463040"/>
            <a:ext cx="8412480" cy="56692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Audio Noise Remover from Video</a:t>
            </a:r>
            <a:endParaRPr lang="en-US" sz="1150" dirty="0"/>
          </a:p>
        </p:txBody>
      </p:sp>
      <p:sp>
        <p:nvSpPr>
          <p:cNvPr id="8" name="Shape 6"/>
          <p:cNvSpPr/>
          <p:nvPr/>
        </p:nvSpPr>
        <p:spPr>
          <a:xfrm>
            <a:off x="548640" y="2194560"/>
            <a:ext cx="11064240" cy="658368"/>
          </a:xfrm>
          <a:prstGeom prst="roundRect">
            <a:avLst>
              <a:gd name="adj" fmla="val 16667"/>
            </a:avLst>
          </a:prstGeom>
          <a:solidFill>
            <a:srgbClr val="F2F5F9"/>
          </a:solidFill>
          <a:ln/>
          <a:effectLst>
            <a:outerShdw sx="100000" sy="100000" kx="0" ky="0" algn="bl" rotWithShape="0" blurRad="101600" dist="25400" dir="5400000">
              <a:srgbClr val="94A3B8">
                <a:alpha val="28000"/>
              </a:srgbClr>
            </a:outerShdw>
          </a:effectLst>
        </p:spPr>
      </p:sp>
      <p:sp>
        <p:nvSpPr>
          <p:cNvPr id="9" name="Shape 7"/>
          <p:cNvSpPr/>
          <p:nvPr/>
        </p:nvSpPr>
        <p:spPr>
          <a:xfrm>
            <a:off x="548640" y="2194560"/>
            <a:ext cx="109728" cy="658368"/>
          </a:xfrm>
          <a:prstGeom prst="rect">
            <a:avLst/>
          </a:prstGeom>
          <a:solidFill>
            <a:srgbClr val="1E88E5"/>
          </a:solidFill>
          <a:ln/>
        </p:spPr>
      </p:sp>
      <p:sp>
        <p:nvSpPr>
          <p:cNvPr id="10" name="Text 8"/>
          <p:cNvSpPr/>
          <p:nvPr/>
        </p:nvSpPr>
        <p:spPr>
          <a:xfrm>
            <a:off x="822960" y="2240280"/>
            <a:ext cx="2103120" cy="566928"/>
          </a:xfrm>
          <a:prstGeom prst="rect">
            <a:avLst/>
          </a:prstGeom>
          <a:noFill/>
          <a:ln/>
        </p:spPr>
        <p:txBody>
          <a:bodyPr wrap="square" lIns="0" tIns="0" rIns="0" bIns="0" rtlCol="0" anchor="ctr"/>
          <a:lstStyle/>
          <a:p>
            <a:pPr indent="0" marL="0">
              <a:buNone/>
            </a:pPr>
            <a:r>
              <a:rPr lang="en-US" sz="1250" b="1" dirty="0">
                <a:solidFill>
                  <a:srgbClr val="1E88E5"/>
                </a:solidFill>
                <a:latin typeface="Calibri" pitchFamily="34" charset="0"/>
                <a:ea typeface="Calibri" pitchFamily="34" charset="-122"/>
                <a:cs typeface="Calibri" pitchFamily="34" charset="-120"/>
              </a:rPr>
              <a:t>Developed By</a:t>
            </a:r>
            <a:endParaRPr lang="en-US" sz="1250" dirty="0"/>
          </a:p>
        </p:txBody>
      </p:sp>
      <p:sp>
        <p:nvSpPr>
          <p:cNvPr id="11" name="Text 9"/>
          <p:cNvSpPr/>
          <p:nvPr/>
        </p:nvSpPr>
        <p:spPr>
          <a:xfrm>
            <a:off x="3017520" y="2240280"/>
            <a:ext cx="8412480" cy="56692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Alok Sahni</a:t>
            </a:r>
            <a:endParaRPr lang="en-US" sz="1150" dirty="0"/>
          </a:p>
        </p:txBody>
      </p:sp>
      <p:sp>
        <p:nvSpPr>
          <p:cNvPr id="12" name="Shape 10"/>
          <p:cNvSpPr/>
          <p:nvPr/>
        </p:nvSpPr>
        <p:spPr>
          <a:xfrm>
            <a:off x="548640" y="2971800"/>
            <a:ext cx="11064240" cy="658368"/>
          </a:xfrm>
          <a:prstGeom prst="roundRect">
            <a:avLst>
              <a:gd name="adj" fmla="val 16667"/>
            </a:avLst>
          </a:prstGeom>
          <a:solidFill>
            <a:srgbClr val="F2F5F9"/>
          </a:solidFill>
          <a:ln/>
          <a:effectLst>
            <a:outerShdw sx="100000" sy="100000" kx="0" ky="0" algn="bl" rotWithShape="0" blurRad="101600" dist="25400" dir="5400000">
              <a:srgbClr val="94A3B8">
                <a:alpha val="28000"/>
              </a:srgbClr>
            </a:outerShdw>
          </a:effectLst>
        </p:spPr>
      </p:sp>
      <p:sp>
        <p:nvSpPr>
          <p:cNvPr id="13" name="Shape 11"/>
          <p:cNvSpPr/>
          <p:nvPr/>
        </p:nvSpPr>
        <p:spPr>
          <a:xfrm>
            <a:off x="548640" y="2971800"/>
            <a:ext cx="109728" cy="658368"/>
          </a:xfrm>
          <a:prstGeom prst="rect">
            <a:avLst/>
          </a:prstGeom>
          <a:solidFill>
            <a:srgbClr val="2E7D32"/>
          </a:solidFill>
          <a:ln/>
        </p:spPr>
      </p:sp>
      <p:sp>
        <p:nvSpPr>
          <p:cNvPr id="14" name="Text 12"/>
          <p:cNvSpPr/>
          <p:nvPr/>
        </p:nvSpPr>
        <p:spPr>
          <a:xfrm>
            <a:off x="822960" y="3017520"/>
            <a:ext cx="2103120" cy="566928"/>
          </a:xfrm>
          <a:prstGeom prst="rect">
            <a:avLst/>
          </a:prstGeom>
          <a:noFill/>
          <a:ln/>
        </p:spPr>
        <p:txBody>
          <a:bodyPr wrap="square" lIns="0" tIns="0" rIns="0" bIns="0" rtlCol="0" anchor="ctr"/>
          <a:lstStyle/>
          <a:p>
            <a:pPr indent="0" marL="0">
              <a:buNone/>
            </a:pPr>
            <a:r>
              <a:rPr lang="en-US" sz="1250" b="1" dirty="0">
                <a:solidFill>
                  <a:srgbClr val="2E7D32"/>
                </a:solidFill>
                <a:latin typeface="Calibri" pitchFamily="34" charset="0"/>
                <a:ea typeface="Calibri" pitchFamily="34" charset="-122"/>
                <a:cs typeface="Calibri" pitchFamily="34" charset="-120"/>
              </a:rPr>
              <a:t>Domain</a:t>
            </a:r>
            <a:endParaRPr lang="en-US" sz="1250" dirty="0"/>
          </a:p>
        </p:txBody>
      </p:sp>
      <p:sp>
        <p:nvSpPr>
          <p:cNvPr id="15" name="Text 13"/>
          <p:cNvSpPr/>
          <p:nvPr/>
        </p:nvSpPr>
        <p:spPr>
          <a:xfrm>
            <a:off x="3017520" y="3017520"/>
            <a:ext cx="8412480" cy="56692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Digital Audio/Video Processing — Python desktop application</a:t>
            </a:r>
            <a:endParaRPr lang="en-US" sz="1150" dirty="0"/>
          </a:p>
        </p:txBody>
      </p:sp>
      <p:sp>
        <p:nvSpPr>
          <p:cNvPr id="16" name="Shape 14"/>
          <p:cNvSpPr/>
          <p:nvPr/>
        </p:nvSpPr>
        <p:spPr>
          <a:xfrm>
            <a:off x="548640" y="3749040"/>
            <a:ext cx="11064240" cy="658368"/>
          </a:xfrm>
          <a:prstGeom prst="roundRect">
            <a:avLst>
              <a:gd name="adj" fmla="val 16667"/>
            </a:avLst>
          </a:prstGeom>
          <a:solidFill>
            <a:srgbClr val="F2F5F9"/>
          </a:solidFill>
          <a:ln/>
          <a:effectLst>
            <a:outerShdw sx="100000" sy="100000" kx="0" ky="0" algn="bl" rotWithShape="0" blurRad="101600" dist="25400" dir="5400000">
              <a:srgbClr val="94A3B8">
                <a:alpha val="28000"/>
              </a:srgbClr>
            </a:outerShdw>
          </a:effectLst>
        </p:spPr>
      </p:sp>
      <p:sp>
        <p:nvSpPr>
          <p:cNvPr id="17" name="Shape 15"/>
          <p:cNvSpPr/>
          <p:nvPr/>
        </p:nvSpPr>
        <p:spPr>
          <a:xfrm>
            <a:off x="548640" y="3749040"/>
            <a:ext cx="109728" cy="658368"/>
          </a:xfrm>
          <a:prstGeom prst="rect">
            <a:avLst/>
          </a:prstGeom>
          <a:solidFill>
            <a:srgbClr val="00897B"/>
          </a:solidFill>
          <a:ln/>
        </p:spPr>
      </p:sp>
      <p:sp>
        <p:nvSpPr>
          <p:cNvPr id="18" name="Text 16"/>
          <p:cNvSpPr/>
          <p:nvPr/>
        </p:nvSpPr>
        <p:spPr>
          <a:xfrm>
            <a:off x="822960" y="3794760"/>
            <a:ext cx="2103120" cy="566928"/>
          </a:xfrm>
          <a:prstGeom prst="rect">
            <a:avLst/>
          </a:prstGeom>
          <a:noFill/>
          <a:ln/>
        </p:spPr>
        <p:txBody>
          <a:bodyPr wrap="square" lIns="0" tIns="0" rIns="0" bIns="0" rtlCol="0" anchor="ctr"/>
          <a:lstStyle/>
          <a:p>
            <a:pPr indent="0" marL="0">
              <a:buNone/>
            </a:pPr>
            <a:r>
              <a:rPr lang="en-US" sz="1250" b="1" dirty="0">
                <a:solidFill>
                  <a:srgbClr val="00897B"/>
                </a:solidFill>
                <a:latin typeface="Calibri" pitchFamily="34" charset="0"/>
                <a:ea typeface="Calibri" pitchFamily="34" charset="-122"/>
                <a:cs typeface="Calibri" pitchFamily="34" charset="-120"/>
              </a:rPr>
              <a:t>Problem Statement</a:t>
            </a:r>
            <a:endParaRPr lang="en-US" sz="1250" dirty="0"/>
          </a:p>
        </p:txBody>
      </p:sp>
      <p:sp>
        <p:nvSpPr>
          <p:cNvPr id="19" name="Text 17"/>
          <p:cNvSpPr/>
          <p:nvPr/>
        </p:nvSpPr>
        <p:spPr>
          <a:xfrm>
            <a:off x="3017520" y="3794760"/>
            <a:ext cx="8412480" cy="56692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Videos often contain unwanted background noise (hiss, static, ambient hum) in their audio track, reducing clarity — this tool automatically extracts, cleans and re-embeds the audio</a:t>
            </a:r>
            <a:endParaRPr lang="en-US" sz="1150" dirty="0"/>
          </a:p>
        </p:txBody>
      </p:sp>
      <p:sp>
        <p:nvSpPr>
          <p:cNvPr id="20" name="Shape 18"/>
          <p:cNvSpPr/>
          <p:nvPr/>
        </p:nvSpPr>
        <p:spPr>
          <a:xfrm>
            <a:off x="548640" y="4526280"/>
            <a:ext cx="11064240" cy="658368"/>
          </a:xfrm>
          <a:prstGeom prst="roundRect">
            <a:avLst>
              <a:gd name="adj" fmla="val 16667"/>
            </a:avLst>
          </a:prstGeom>
          <a:solidFill>
            <a:srgbClr val="F2F5F9"/>
          </a:solidFill>
          <a:ln/>
          <a:effectLst>
            <a:outerShdw sx="100000" sy="100000" kx="0" ky="0" algn="bl" rotWithShape="0" blurRad="101600" dist="25400" dir="5400000">
              <a:srgbClr val="94A3B8">
                <a:alpha val="28000"/>
              </a:srgbClr>
            </a:outerShdw>
          </a:effectLst>
        </p:spPr>
      </p:sp>
      <p:sp>
        <p:nvSpPr>
          <p:cNvPr id="21" name="Shape 19"/>
          <p:cNvSpPr/>
          <p:nvPr/>
        </p:nvSpPr>
        <p:spPr>
          <a:xfrm>
            <a:off x="548640" y="4526280"/>
            <a:ext cx="109728" cy="658368"/>
          </a:xfrm>
          <a:prstGeom prst="rect">
            <a:avLst/>
          </a:prstGeom>
          <a:solidFill>
            <a:srgbClr val="5E35B1"/>
          </a:solidFill>
          <a:ln/>
        </p:spPr>
      </p:sp>
      <p:sp>
        <p:nvSpPr>
          <p:cNvPr id="22" name="Text 20"/>
          <p:cNvSpPr/>
          <p:nvPr/>
        </p:nvSpPr>
        <p:spPr>
          <a:xfrm>
            <a:off x="822960" y="4572000"/>
            <a:ext cx="2103120" cy="566928"/>
          </a:xfrm>
          <a:prstGeom prst="rect">
            <a:avLst/>
          </a:prstGeom>
          <a:noFill/>
          <a:ln/>
        </p:spPr>
        <p:txBody>
          <a:bodyPr wrap="square" lIns="0" tIns="0" rIns="0" bIns="0" rtlCol="0" anchor="ctr"/>
          <a:lstStyle/>
          <a:p>
            <a:pPr indent="0" marL="0">
              <a:buNone/>
            </a:pPr>
            <a:r>
              <a:rPr lang="en-US" sz="1250" b="1" dirty="0">
                <a:solidFill>
                  <a:srgbClr val="5E35B1"/>
                </a:solidFill>
                <a:latin typeface="Calibri" pitchFamily="34" charset="0"/>
                <a:ea typeface="Calibri" pitchFamily="34" charset="-122"/>
                <a:cs typeface="Calibri" pitchFamily="34" charset="-120"/>
              </a:rPr>
              <a:t>Language</a:t>
            </a:r>
            <a:endParaRPr lang="en-US" sz="1250" dirty="0"/>
          </a:p>
        </p:txBody>
      </p:sp>
      <p:sp>
        <p:nvSpPr>
          <p:cNvPr id="23" name="Text 21"/>
          <p:cNvSpPr/>
          <p:nvPr/>
        </p:nvSpPr>
        <p:spPr>
          <a:xfrm>
            <a:off x="3017520" y="4572000"/>
            <a:ext cx="8412480" cy="56692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Python 3.x</a:t>
            </a:r>
            <a:endParaRPr lang="en-US" sz="1150" dirty="0"/>
          </a:p>
        </p:txBody>
      </p:sp>
      <p:sp>
        <p:nvSpPr>
          <p:cNvPr id="24" name="Shape 22"/>
          <p:cNvSpPr/>
          <p:nvPr/>
        </p:nvSpPr>
        <p:spPr>
          <a:xfrm>
            <a:off x="548640" y="5303520"/>
            <a:ext cx="11064240" cy="658368"/>
          </a:xfrm>
          <a:prstGeom prst="roundRect">
            <a:avLst>
              <a:gd name="adj" fmla="val 16667"/>
            </a:avLst>
          </a:prstGeom>
          <a:solidFill>
            <a:srgbClr val="F2F5F9"/>
          </a:solidFill>
          <a:ln/>
          <a:effectLst>
            <a:outerShdw sx="100000" sy="100000" kx="0" ky="0" algn="bl" rotWithShape="0" blurRad="101600" dist="25400" dir="5400000">
              <a:srgbClr val="94A3B8">
                <a:alpha val="28000"/>
              </a:srgbClr>
            </a:outerShdw>
          </a:effectLst>
        </p:spPr>
      </p:sp>
      <p:sp>
        <p:nvSpPr>
          <p:cNvPr id="25" name="Shape 23"/>
          <p:cNvSpPr/>
          <p:nvPr/>
        </p:nvSpPr>
        <p:spPr>
          <a:xfrm>
            <a:off x="548640" y="5303520"/>
            <a:ext cx="109728" cy="658368"/>
          </a:xfrm>
          <a:prstGeom prst="rect">
            <a:avLst/>
          </a:prstGeom>
          <a:solidFill>
            <a:srgbClr val="FFB300"/>
          </a:solidFill>
          <a:ln/>
        </p:spPr>
      </p:sp>
      <p:sp>
        <p:nvSpPr>
          <p:cNvPr id="26" name="Text 24"/>
          <p:cNvSpPr/>
          <p:nvPr/>
        </p:nvSpPr>
        <p:spPr>
          <a:xfrm>
            <a:off x="822960" y="5349240"/>
            <a:ext cx="2103120" cy="566928"/>
          </a:xfrm>
          <a:prstGeom prst="rect">
            <a:avLst/>
          </a:prstGeom>
          <a:noFill/>
          <a:ln/>
        </p:spPr>
        <p:txBody>
          <a:bodyPr wrap="square" lIns="0" tIns="0" rIns="0" bIns="0" rtlCol="0" anchor="ctr"/>
          <a:lstStyle/>
          <a:p>
            <a:pPr indent="0" marL="0">
              <a:buNone/>
            </a:pPr>
            <a:r>
              <a:rPr lang="en-US" sz="1250" b="1" dirty="0">
                <a:solidFill>
                  <a:srgbClr val="FFB300"/>
                </a:solidFill>
                <a:latin typeface="Calibri" pitchFamily="34" charset="0"/>
                <a:ea typeface="Calibri" pitchFamily="34" charset="-122"/>
                <a:cs typeface="Calibri" pitchFamily="34" charset="-120"/>
              </a:rPr>
              <a:t>Course</a:t>
            </a:r>
            <a:endParaRPr lang="en-US" sz="1250" dirty="0"/>
          </a:p>
        </p:txBody>
      </p:sp>
      <p:sp>
        <p:nvSpPr>
          <p:cNvPr id="27" name="Text 25"/>
          <p:cNvSpPr/>
          <p:nvPr/>
        </p:nvSpPr>
        <p:spPr>
          <a:xfrm>
            <a:off x="3017520" y="5349240"/>
            <a:ext cx="8412480" cy="566928"/>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NIELIT 'O' Level, submitted through C Institute, Bikaner</a:t>
            </a:r>
            <a:endParaRPr lang="en-US" sz="1150" dirty="0"/>
          </a:p>
        </p:txBody>
      </p:sp>
      <p:sp>
        <p:nvSpPr>
          <p:cNvPr id="28" name="Text 26"/>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1E88E5"/>
                </a:solidFill>
                <a:latin typeface="Calibri" pitchFamily="34" charset="0"/>
                <a:ea typeface="Calibri" pitchFamily="34" charset="-122"/>
                <a:cs typeface="Calibri" pitchFamily="34" charset="-120"/>
              </a:rPr>
              <a:t>OBJECTIVES &amp; SCOPE</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Objectives &amp; Scope</a:t>
            </a:r>
            <a:endParaRPr lang="en-US" sz="3100" dirty="0"/>
          </a:p>
        </p:txBody>
      </p:sp>
      <p:sp>
        <p:nvSpPr>
          <p:cNvPr id="4" name="Shape 2"/>
          <p:cNvSpPr/>
          <p:nvPr/>
        </p:nvSpPr>
        <p:spPr>
          <a:xfrm>
            <a:off x="548640" y="1463040"/>
            <a:ext cx="5394960" cy="1188720"/>
          </a:xfrm>
          <a:prstGeom prst="roundRect">
            <a:avLst>
              <a:gd name="adj" fmla="val 9231"/>
            </a:avLst>
          </a:prstGeom>
          <a:solidFill>
            <a:srgbClr val="F2F5F9"/>
          </a:solidFill>
          <a:ln/>
          <a:effectLst>
            <a:outerShdw sx="100000" sy="100000" kx="0" ky="0" algn="bl" rotWithShape="0" blurRad="101600" dist="25400" dir="5400000">
              <a:srgbClr val="94A3B8">
                <a:alpha val="28000"/>
              </a:srgbClr>
            </a:outerShdw>
          </a:effectLst>
        </p:spPr>
      </p:sp>
      <p:sp>
        <p:nvSpPr>
          <p:cNvPr id="5" name="Shape 3"/>
          <p:cNvSpPr/>
          <p:nvPr/>
        </p:nvSpPr>
        <p:spPr>
          <a:xfrm>
            <a:off x="548640" y="1463040"/>
            <a:ext cx="109728" cy="1188720"/>
          </a:xfrm>
          <a:prstGeom prst="rect">
            <a:avLst/>
          </a:prstGeom>
          <a:solidFill>
            <a:srgbClr val="E53935"/>
          </a:solidFill>
          <a:ln/>
        </p:spPr>
      </p:sp>
      <p:sp>
        <p:nvSpPr>
          <p:cNvPr id="6" name="Text 4"/>
          <p:cNvSpPr/>
          <p:nvPr/>
        </p:nvSpPr>
        <p:spPr>
          <a:xfrm>
            <a:off x="822960" y="1572768"/>
            <a:ext cx="4937760" cy="365760"/>
          </a:xfrm>
          <a:prstGeom prst="rect">
            <a:avLst/>
          </a:prstGeom>
          <a:noFill/>
          <a:ln/>
        </p:spPr>
        <p:txBody>
          <a:bodyPr wrap="square" lIns="0" tIns="0" rIns="0" bIns="0" rtlCol="0" anchor="ctr"/>
          <a:lstStyle/>
          <a:p>
            <a:pPr indent="0" marL="0">
              <a:buNone/>
            </a:pPr>
            <a:r>
              <a:rPr lang="en-US" sz="1450" b="1" dirty="0">
                <a:solidFill>
                  <a:srgbClr val="E53935"/>
                </a:solidFill>
                <a:latin typeface="Cambria" pitchFamily="34" charset="0"/>
                <a:ea typeface="Cambria" pitchFamily="34" charset="-122"/>
                <a:cs typeface="Cambria" pitchFamily="34" charset="-120"/>
              </a:rPr>
              <a:t>Automate noise removal</a:t>
            </a:r>
            <a:endParaRPr lang="en-US" sz="1450" dirty="0"/>
          </a:p>
        </p:txBody>
      </p:sp>
      <p:sp>
        <p:nvSpPr>
          <p:cNvPr id="7" name="Text 5"/>
          <p:cNvSpPr/>
          <p:nvPr/>
        </p:nvSpPr>
        <p:spPr>
          <a:xfrm>
            <a:off x="822960" y="1975104"/>
            <a:ext cx="4983480" cy="5943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extract and clean a video's audio without manual editing</a:t>
            </a:r>
            <a:endParaRPr lang="en-US" sz="1100" dirty="0"/>
          </a:p>
        </p:txBody>
      </p:sp>
      <p:sp>
        <p:nvSpPr>
          <p:cNvPr id="8" name="Shape 6"/>
          <p:cNvSpPr/>
          <p:nvPr/>
        </p:nvSpPr>
        <p:spPr>
          <a:xfrm>
            <a:off x="6217920" y="1463040"/>
            <a:ext cx="5394960" cy="1188720"/>
          </a:xfrm>
          <a:prstGeom prst="roundRect">
            <a:avLst>
              <a:gd name="adj" fmla="val 9231"/>
            </a:avLst>
          </a:prstGeom>
          <a:solidFill>
            <a:srgbClr val="F2F5F9"/>
          </a:solidFill>
          <a:ln/>
          <a:effectLst>
            <a:outerShdw sx="100000" sy="100000" kx="0" ky="0" algn="bl" rotWithShape="0" blurRad="101600" dist="25400" dir="5400000">
              <a:srgbClr val="94A3B8">
                <a:alpha val="28000"/>
              </a:srgbClr>
            </a:outerShdw>
          </a:effectLst>
        </p:spPr>
      </p:sp>
      <p:sp>
        <p:nvSpPr>
          <p:cNvPr id="9" name="Shape 7"/>
          <p:cNvSpPr/>
          <p:nvPr/>
        </p:nvSpPr>
        <p:spPr>
          <a:xfrm>
            <a:off x="6217920" y="1463040"/>
            <a:ext cx="109728" cy="1188720"/>
          </a:xfrm>
          <a:prstGeom prst="rect">
            <a:avLst/>
          </a:prstGeom>
          <a:solidFill>
            <a:srgbClr val="1E88E5"/>
          </a:solidFill>
          <a:ln/>
        </p:spPr>
      </p:sp>
      <p:sp>
        <p:nvSpPr>
          <p:cNvPr id="10" name="Text 8"/>
          <p:cNvSpPr/>
          <p:nvPr/>
        </p:nvSpPr>
        <p:spPr>
          <a:xfrm>
            <a:off x="6492240" y="1572768"/>
            <a:ext cx="4937760" cy="365760"/>
          </a:xfrm>
          <a:prstGeom prst="rect">
            <a:avLst/>
          </a:prstGeom>
          <a:noFill/>
          <a:ln/>
        </p:spPr>
        <p:txBody>
          <a:bodyPr wrap="square" lIns="0" tIns="0" rIns="0" bIns="0" rtlCol="0" anchor="ctr"/>
          <a:lstStyle/>
          <a:p>
            <a:pPr indent="0" marL="0">
              <a:buNone/>
            </a:pPr>
            <a:r>
              <a:rPr lang="en-US" sz="1450" b="1" dirty="0">
                <a:solidFill>
                  <a:srgbClr val="1E88E5"/>
                </a:solidFill>
                <a:latin typeface="Cambria" pitchFamily="34" charset="0"/>
                <a:ea typeface="Cambria" pitchFamily="34" charset="-122"/>
                <a:cs typeface="Cambria" pitchFamily="34" charset="-120"/>
              </a:rPr>
              <a:t>Preserve the video</a:t>
            </a:r>
            <a:endParaRPr lang="en-US" sz="1450" dirty="0"/>
          </a:p>
        </p:txBody>
      </p:sp>
      <p:sp>
        <p:nvSpPr>
          <p:cNvPr id="11" name="Text 9"/>
          <p:cNvSpPr/>
          <p:nvPr/>
        </p:nvSpPr>
        <p:spPr>
          <a:xfrm>
            <a:off x="6492240" y="1975104"/>
            <a:ext cx="4983480" cy="5943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output a complete, playable cleaned video, not just an audio file</a:t>
            </a:r>
            <a:endParaRPr lang="en-US" sz="1100" dirty="0"/>
          </a:p>
        </p:txBody>
      </p:sp>
      <p:sp>
        <p:nvSpPr>
          <p:cNvPr id="12" name="Shape 10"/>
          <p:cNvSpPr/>
          <p:nvPr/>
        </p:nvSpPr>
        <p:spPr>
          <a:xfrm>
            <a:off x="548640" y="2834640"/>
            <a:ext cx="5394960" cy="1188720"/>
          </a:xfrm>
          <a:prstGeom prst="roundRect">
            <a:avLst>
              <a:gd name="adj" fmla="val 9231"/>
            </a:avLst>
          </a:prstGeom>
          <a:solidFill>
            <a:srgbClr val="F2F5F9"/>
          </a:solidFill>
          <a:ln/>
          <a:effectLst>
            <a:outerShdw sx="100000" sy="100000" kx="0" ky="0" algn="bl" rotWithShape="0" blurRad="101600" dist="25400" dir="5400000">
              <a:srgbClr val="94A3B8">
                <a:alpha val="28000"/>
              </a:srgbClr>
            </a:outerShdw>
          </a:effectLst>
        </p:spPr>
      </p:sp>
      <p:sp>
        <p:nvSpPr>
          <p:cNvPr id="13" name="Shape 11"/>
          <p:cNvSpPr/>
          <p:nvPr/>
        </p:nvSpPr>
        <p:spPr>
          <a:xfrm>
            <a:off x="548640" y="2834640"/>
            <a:ext cx="109728" cy="1188720"/>
          </a:xfrm>
          <a:prstGeom prst="rect">
            <a:avLst/>
          </a:prstGeom>
          <a:solidFill>
            <a:srgbClr val="2E7D32"/>
          </a:solidFill>
          <a:ln/>
        </p:spPr>
      </p:sp>
      <p:sp>
        <p:nvSpPr>
          <p:cNvPr id="14" name="Text 12"/>
          <p:cNvSpPr/>
          <p:nvPr/>
        </p:nvSpPr>
        <p:spPr>
          <a:xfrm>
            <a:off x="822960" y="2944368"/>
            <a:ext cx="4937760" cy="365760"/>
          </a:xfrm>
          <a:prstGeom prst="rect">
            <a:avLst/>
          </a:prstGeom>
          <a:noFill/>
          <a:ln/>
        </p:spPr>
        <p:txBody>
          <a:bodyPr wrap="square" lIns="0" tIns="0" rIns="0" bIns="0" rtlCol="0" anchor="ctr"/>
          <a:lstStyle/>
          <a:p>
            <a:pPr indent="0" marL="0">
              <a:buNone/>
            </a:pPr>
            <a:r>
              <a:rPr lang="en-US" sz="1450" b="1" dirty="0">
                <a:solidFill>
                  <a:srgbClr val="2E7D32"/>
                </a:solidFill>
                <a:latin typeface="Cambria" pitchFamily="34" charset="0"/>
                <a:ea typeface="Cambria" pitchFamily="34" charset="-122"/>
                <a:cs typeface="Cambria" pitchFamily="34" charset="-120"/>
              </a:rPr>
              <a:t>Keep it accessible</a:t>
            </a:r>
            <a:endParaRPr lang="en-US" sz="1450" dirty="0"/>
          </a:p>
        </p:txBody>
      </p:sp>
      <p:sp>
        <p:nvSpPr>
          <p:cNvPr id="15" name="Text 13"/>
          <p:cNvSpPr/>
          <p:nvPr/>
        </p:nvSpPr>
        <p:spPr>
          <a:xfrm>
            <a:off x="822960" y="3346704"/>
            <a:ext cx="4983480" cy="5943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simple Tkinter GUI — no command-line or DSP knowledge needed</a:t>
            </a:r>
            <a:endParaRPr lang="en-US" sz="1100" dirty="0"/>
          </a:p>
        </p:txBody>
      </p:sp>
      <p:sp>
        <p:nvSpPr>
          <p:cNvPr id="16" name="Shape 14"/>
          <p:cNvSpPr/>
          <p:nvPr/>
        </p:nvSpPr>
        <p:spPr>
          <a:xfrm>
            <a:off x="6217920" y="2834640"/>
            <a:ext cx="5394960" cy="1188720"/>
          </a:xfrm>
          <a:prstGeom prst="roundRect">
            <a:avLst>
              <a:gd name="adj" fmla="val 9231"/>
            </a:avLst>
          </a:prstGeom>
          <a:solidFill>
            <a:srgbClr val="F2F5F9"/>
          </a:solidFill>
          <a:ln/>
          <a:effectLst>
            <a:outerShdw sx="100000" sy="100000" kx="0" ky="0" algn="bl" rotWithShape="0" blurRad="101600" dist="25400" dir="5400000">
              <a:srgbClr val="94A3B8">
                <a:alpha val="28000"/>
              </a:srgbClr>
            </a:outerShdw>
          </a:effectLst>
        </p:spPr>
      </p:sp>
      <p:sp>
        <p:nvSpPr>
          <p:cNvPr id="17" name="Shape 15"/>
          <p:cNvSpPr/>
          <p:nvPr/>
        </p:nvSpPr>
        <p:spPr>
          <a:xfrm>
            <a:off x="6217920" y="2834640"/>
            <a:ext cx="109728" cy="1188720"/>
          </a:xfrm>
          <a:prstGeom prst="rect">
            <a:avLst/>
          </a:prstGeom>
          <a:solidFill>
            <a:srgbClr val="00897B"/>
          </a:solidFill>
          <a:ln/>
        </p:spPr>
      </p:sp>
      <p:sp>
        <p:nvSpPr>
          <p:cNvPr id="18" name="Text 16"/>
          <p:cNvSpPr/>
          <p:nvPr/>
        </p:nvSpPr>
        <p:spPr>
          <a:xfrm>
            <a:off x="6492240" y="2944368"/>
            <a:ext cx="4937760" cy="365760"/>
          </a:xfrm>
          <a:prstGeom prst="rect">
            <a:avLst/>
          </a:prstGeom>
          <a:noFill/>
          <a:ln/>
        </p:spPr>
        <p:txBody>
          <a:bodyPr wrap="square" lIns="0" tIns="0" rIns="0" bIns="0" rtlCol="0" anchor="ctr"/>
          <a:lstStyle/>
          <a:p>
            <a:pPr indent="0" marL="0">
              <a:buNone/>
            </a:pPr>
            <a:r>
              <a:rPr lang="en-US" sz="1450" b="1" dirty="0">
                <a:solidFill>
                  <a:srgbClr val="00897B"/>
                </a:solidFill>
                <a:latin typeface="Cambria" pitchFamily="34" charset="0"/>
                <a:ea typeface="Cambria" pitchFamily="34" charset="-122"/>
                <a:cs typeface="Cambria" pitchFamily="34" charset="-120"/>
              </a:rPr>
              <a:t>Preview before/after</a:t>
            </a:r>
            <a:endParaRPr lang="en-US" sz="1450" dirty="0"/>
          </a:p>
        </p:txBody>
      </p:sp>
      <p:sp>
        <p:nvSpPr>
          <p:cNvPr id="19" name="Text 17"/>
          <p:cNvSpPr/>
          <p:nvPr/>
        </p:nvSpPr>
        <p:spPr>
          <a:xfrm>
            <a:off x="6492240" y="3346704"/>
            <a:ext cx="4983480" cy="594360"/>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let the user listen to original vs cleaned audio directly in-app</a:t>
            </a:r>
            <a:endParaRPr lang="en-US" sz="1100" dirty="0"/>
          </a:p>
        </p:txBody>
      </p:sp>
      <p:sp>
        <p:nvSpPr>
          <p:cNvPr id="20" name="Shape 18"/>
          <p:cNvSpPr/>
          <p:nvPr/>
        </p:nvSpPr>
        <p:spPr>
          <a:xfrm>
            <a:off x="548640" y="4343400"/>
            <a:ext cx="11064240" cy="1554480"/>
          </a:xfrm>
          <a:prstGeom prst="roundRect">
            <a:avLst>
              <a:gd name="adj" fmla="val 7059"/>
            </a:avLst>
          </a:prstGeom>
          <a:solidFill>
            <a:srgbClr val="F1ECFA"/>
          </a:solidFill>
          <a:ln/>
          <a:effectLst>
            <a:outerShdw sx="100000" sy="100000" kx="0" ky="0" algn="bl" rotWithShape="0" blurRad="101600" dist="25400" dir="5400000">
              <a:srgbClr val="94A3B8">
                <a:alpha val="28000"/>
              </a:srgbClr>
            </a:outerShdw>
          </a:effectLst>
        </p:spPr>
      </p:sp>
      <p:sp>
        <p:nvSpPr>
          <p:cNvPr id="21" name="Text 19"/>
          <p:cNvSpPr/>
          <p:nvPr/>
        </p:nvSpPr>
        <p:spPr>
          <a:xfrm>
            <a:off x="777240" y="4398264"/>
            <a:ext cx="10607040" cy="1444752"/>
          </a:xfrm>
          <a:prstGeom prst="rect">
            <a:avLst/>
          </a:prstGeom>
          <a:noFill/>
          <a:ln/>
        </p:spPr>
        <p:txBody>
          <a:bodyPr wrap="square" lIns="0" tIns="0" rIns="0" bIns="0" rtlCol="0" anchor="ctr"/>
          <a:lstStyle/>
          <a:p>
            <a:pPr indent="0" marL="0">
              <a:buNone/>
            </a:pPr>
            <a:r>
              <a:rPr lang="en-US" sz="1250" b="1" dirty="0">
                <a:solidFill>
                  <a:srgbClr val="5E35B1"/>
                </a:solidFill>
                <a:latin typeface="Calibri" pitchFamily="34" charset="0"/>
                <a:ea typeface="Calibri" pitchFamily="34" charset="-122"/>
                <a:cs typeface="Calibri" pitchFamily="34" charset="-120"/>
              </a:rPr>
              <a:t>Scope:  </a:t>
            </a:r>
            <a:pPr indent="0" marL="0">
              <a:buNone/>
            </a:pPr>
            <a:r>
              <a:rPr lang="en-US" sz="1250" dirty="0">
                <a:solidFill>
                  <a:srgbClr val="1F2937"/>
                </a:solidFill>
                <a:latin typeface="Calibri" pitchFamily="34" charset="0"/>
                <a:ea typeface="Calibri" pitchFamily="34" charset="-122"/>
                <a:cs typeface="Calibri" pitchFamily="34" charset="-120"/>
              </a:rPr>
              <a:t>A Windows desktop utility (uses a hard-coded FFmpeg path) that processes one video at a time: select → clean → export a new "_cleaned.mp4" file alongside the original. Batch processing and cross-platform paths are noted as future scope.</a:t>
            </a:r>
            <a:endParaRPr lang="en-US" sz="1250" dirty="0"/>
          </a:p>
        </p:txBody>
      </p:sp>
      <p:sp>
        <p:nvSpPr>
          <p:cNvPr id="22" name="Text 20"/>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00897B"/>
                </a:solidFill>
                <a:latin typeface="Calibri" pitchFamily="34" charset="0"/>
                <a:ea typeface="Calibri" pitchFamily="34" charset="-122"/>
                <a:cs typeface="Calibri" pitchFamily="34" charset="-120"/>
              </a:rPr>
              <a:t>TOOLS &amp; TECHNOLOGY STACK</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Tools &amp; Technologies Used</a:t>
            </a:r>
            <a:endParaRPr lang="en-US" sz="3100" dirty="0"/>
          </a:p>
        </p:txBody>
      </p:sp>
      <p:sp>
        <p:nvSpPr>
          <p:cNvPr id="4" name="Shape 2"/>
          <p:cNvSpPr/>
          <p:nvPr/>
        </p:nvSpPr>
        <p:spPr>
          <a:xfrm>
            <a:off x="548640" y="146304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5" name="Shape 3"/>
          <p:cNvSpPr/>
          <p:nvPr/>
        </p:nvSpPr>
        <p:spPr>
          <a:xfrm>
            <a:off x="548640" y="1463040"/>
            <a:ext cx="2560320" cy="457200"/>
          </a:xfrm>
          <a:prstGeom prst="rect">
            <a:avLst/>
          </a:prstGeom>
          <a:solidFill>
            <a:srgbClr val="E53935"/>
          </a:solidFill>
          <a:ln/>
        </p:spPr>
      </p:sp>
      <p:sp>
        <p:nvSpPr>
          <p:cNvPr id="6" name="Text 4"/>
          <p:cNvSpPr/>
          <p:nvPr/>
        </p:nvSpPr>
        <p:spPr>
          <a:xfrm>
            <a:off x="548640" y="146304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Python 3.x</a:t>
            </a:r>
            <a:endParaRPr lang="en-US" sz="1200" dirty="0"/>
          </a:p>
        </p:txBody>
      </p:sp>
      <p:sp>
        <p:nvSpPr>
          <p:cNvPr id="7" name="Text 5"/>
          <p:cNvSpPr/>
          <p:nvPr/>
        </p:nvSpPr>
        <p:spPr>
          <a:xfrm>
            <a:off x="685800" y="202996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core programming language</a:t>
            </a:r>
            <a:endParaRPr lang="en-US" sz="950" dirty="0"/>
          </a:p>
        </p:txBody>
      </p:sp>
      <p:sp>
        <p:nvSpPr>
          <p:cNvPr id="8" name="Shape 6"/>
          <p:cNvSpPr/>
          <p:nvPr/>
        </p:nvSpPr>
        <p:spPr>
          <a:xfrm>
            <a:off x="3291840" y="146304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9" name="Shape 7"/>
          <p:cNvSpPr/>
          <p:nvPr/>
        </p:nvSpPr>
        <p:spPr>
          <a:xfrm>
            <a:off x="3291840" y="1463040"/>
            <a:ext cx="2560320" cy="457200"/>
          </a:xfrm>
          <a:prstGeom prst="rect">
            <a:avLst/>
          </a:prstGeom>
          <a:solidFill>
            <a:srgbClr val="1E88E5"/>
          </a:solidFill>
          <a:ln/>
        </p:spPr>
      </p:sp>
      <p:sp>
        <p:nvSpPr>
          <p:cNvPr id="10" name="Text 8"/>
          <p:cNvSpPr/>
          <p:nvPr/>
        </p:nvSpPr>
        <p:spPr>
          <a:xfrm>
            <a:off x="3291840" y="146304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Tkinter</a:t>
            </a:r>
            <a:endParaRPr lang="en-US" sz="1200" dirty="0"/>
          </a:p>
        </p:txBody>
      </p:sp>
      <p:sp>
        <p:nvSpPr>
          <p:cNvPr id="11" name="Text 9"/>
          <p:cNvSpPr/>
          <p:nvPr/>
        </p:nvSpPr>
        <p:spPr>
          <a:xfrm>
            <a:off x="3429000" y="202996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GUI framework — window, buttons, progress bar</a:t>
            </a:r>
            <a:endParaRPr lang="en-US" sz="950" dirty="0"/>
          </a:p>
        </p:txBody>
      </p:sp>
      <p:sp>
        <p:nvSpPr>
          <p:cNvPr id="12" name="Shape 10"/>
          <p:cNvSpPr/>
          <p:nvPr/>
        </p:nvSpPr>
        <p:spPr>
          <a:xfrm>
            <a:off x="6035040" y="146304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13" name="Shape 11"/>
          <p:cNvSpPr/>
          <p:nvPr/>
        </p:nvSpPr>
        <p:spPr>
          <a:xfrm>
            <a:off x="6035040" y="1463040"/>
            <a:ext cx="2560320" cy="457200"/>
          </a:xfrm>
          <a:prstGeom prst="rect">
            <a:avLst/>
          </a:prstGeom>
          <a:solidFill>
            <a:srgbClr val="2E7D32"/>
          </a:solidFill>
          <a:ln/>
        </p:spPr>
      </p:sp>
      <p:sp>
        <p:nvSpPr>
          <p:cNvPr id="14" name="Text 12"/>
          <p:cNvSpPr/>
          <p:nvPr/>
        </p:nvSpPr>
        <p:spPr>
          <a:xfrm>
            <a:off x="6035040" y="146304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MoviePy</a:t>
            </a:r>
            <a:endParaRPr lang="en-US" sz="1200" dirty="0"/>
          </a:p>
        </p:txBody>
      </p:sp>
      <p:sp>
        <p:nvSpPr>
          <p:cNvPr id="15" name="Text 13"/>
          <p:cNvSpPr/>
          <p:nvPr/>
        </p:nvSpPr>
        <p:spPr>
          <a:xfrm>
            <a:off x="6172200" y="202996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video handling &amp; audio extraction (VideoFileClip)</a:t>
            </a:r>
            <a:endParaRPr lang="en-US" sz="950" dirty="0"/>
          </a:p>
        </p:txBody>
      </p:sp>
      <p:sp>
        <p:nvSpPr>
          <p:cNvPr id="16" name="Shape 14"/>
          <p:cNvSpPr/>
          <p:nvPr/>
        </p:nvSpPr>
        <p:spPr>
          <a:xfrm>
            <a:off x="8778240" y="146304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17" name="Shape 15"/>
          <p:cNvSpPr/>
          <p:nvPr/>
        </p:nvSpPr>
        <p:spPr>
          <a:xfrm>
            <a:off x="8778240" y="1463040"/>
            <a:ext cx="2560320" cy="457200"/>
          </a:xfrm>
          <a:prstGeom prst="rect">
            <a:avLst/>
          </a:prstGeom>
          <a:solidFill>
            <a:srgbClr val="00897B"/>
          </a:solidFill>
          <a:ln/>
        </p:spPr>
      </p:sp>
      <p:sp>
        <p:nvSpPr>
          <p:cNvPr id="18" name="Text 16"/>
          <p:cNvSpPr/>
          <p:nvPr/>
        </p:nvSpPr>
        <p:spPr>
          <a:xfrm>
            <a:off x="8778240" y="146304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SciPy (wavfile)</a:t>
            </a:r>
            <a:endParaRPr lang="en-US" sz="1200" dirty="0"/>
          </a:p>
        </p:txBody>
      </p:sp>
      <p:sp>
        <p:nvSpPr>
          <p:cNvPr id="19" name="Text 17"/>
          <p:cNvSpPr/>
          <p:nvPr/>
        </p:nvSpPr>
        <p:spPr>
          <a:xfrm>
            <a:off x="8915400" y="202996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reading &amp; writing WAV audio samples</a:t>
            </a:r>
            <a:endParaRPr lang="en-US" sz="950" dirty="0"/>
          </a:p>
        </p:txBody>
      </p:sp>
      <p:sp>
        <p:nvSpPr>
          <p:cNvPr id="20" name="Shape 18"/>
          <p:cNvSpPr/>
          <p:nvPr/>
        </p:nvSpPr>
        <p:spPr>
          <a:xfrm>
            <a:off x="548640" y="320040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21" name="Shape 19"/>
          <p:cNvSpPr/>
          <p:nvPr/>
        </p:nvSpPr>
        <p:spPr>
          <a:xfrm>
            <a:off x="548640" y="3200400"/>
            <a:ext cx="2560320" cy="457200"/>
          </a:xfrm>
          <a:prstGeom prst="rect">
            <a:avLst/>
          </a:prstGeom>
          <a:solidFill>
            <a:srgbClr val="5E35B1"/>
          </a:solidFill>
          <a:ln/>
        </p:spPr>
      </p:sp>
      <p:sp>
        <p:nvSpPr>
          <p:cNvPr id="22" name="Text 20"/>
          <p:cNvSpPr/>
          <p:nvPr/>
        </p:nvSpPr>
        <p:spPr>
          <a:xfrm>
            <a:off x="548640" y="320040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NoiseReduce</a:t>
            </a:r>
            <a:endParaRPr lang="en-US" sz="1200" dirty="0"/>
          </a:p>
        </p:txBody>
      </p:sp>
      <p:sp>
        <p:nvSpPr>
          <p:cNvPr id="23" name="Text 21"/>
          <p:cNvSpPr/>
          <p:nvPr/>
        </p:nvSpPr>
        <p:spPr>
          <a:xfrm>
            <a:off x="685800" y="376732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the core denoising library — spectral gating</a:t>
            </a:r>
            <a:endParaRPr lang="en-US" sz="950" dirty="0"/>
          </a:p>
        </p:txBody>
      </p:sp>
      <p:sp>
        <p:nvSpPr>
          <p:cNvPr id="24" name="Shape 22"/>
          <p:cNvSpPr/>
          <p:nvPr/>
        </p:nvSpPr>
        <p:spPr>
          <a:xfrm>
            <a:off x="3291840" y="320040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25" name="Shape 23"/>
          <p:cNvSpPr/>
          <p:nvPr/>
        </p:nvSpPr>
        <p:spPr>
          <a:xfrm>
            <a:off x="3291840" y="3200400"/>
            <a:ext cx="2560320" cy="457200"/>
          </a:xfrm>
          <a:prstGeom prst="rect">
            <a:avLst/>
          </a:prstGeom>
          <a:solidFill>
            <a:srgbClr val="FFB300"/>
          </a:solidFill>
          <a:ln/>
        </p:spPr>
      </p:sp>
      <p:sp>
        <p:nvSpPr>
          <p:cNvPr id="26" name="Text 24"/>
          <p:cNvSpPr/>
          <p:nvPr/>
        </p:nvSpPr>
        <p:spPr>
          <a:xfrm>
            <a:off x="3291840" y="320040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FFmpeg</a:t>
            </a:r>
            <a:endParaRPr lang="en-US" sz="1200" dirty="0"/>
          </a:p>
        </p:txBody>
      </p:sp>
      <p:sp>
        <p:nvSpPr>
          <p:cNvPr id="27" name="Text 25"/>
          <p:cNvSpPr/>
          <p:nvPr/>
        </p:nvSpPr>
        <p:spPr>
          <a:xfrm>
            <a:off x="3429000" y="376732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merges the cleaned audio back into the video</a:t>
            </a:r>
            <a:endParaRPr lang="en-US" sz="950" dirty="0"/>
          </a:p>
        </p:txBody>
      </p:sp>
      <p:sp>
        <p:nvSpPr>
          <p:cNvPr id="28" name="Shape 26"/>
          <p:cNvSpPr/>
          <p:nvPr/>
        </p:nvSpPr>
        <p:spPr>
          <a:xfrm>
            <a:off x="6035040" y="320040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29" name="Shape 27"/>
          <p:cNvSpPr/>
          <p:nvPr/>
        </p:nvSpPr>
        <p:spPr>
          <a:xfrm>
            <a:off x="6035040" y="3200400"/>
            <a:ext cx="2560320" cy="457200"/>
          </a:xfrm>
          <a:prstGeom prst="rect">
            <a:avLst/>
          </a:prstGeom>
          <a:solidFill>
            <a:srgbClr val="E53935"/>
          </a:solidFill>
          <a:ln/>
        </p:spPr>
      </p:sp>
      <p:sp>
        <p:nvSpPr>
          <p:cNvPr id="30" name="Text 28"/>
          <p:cNvSpPr/>
          <p:nvPr/>
        </p:nvSpPr>
        <p:spPr>
          <a:xfrm>
            <a:off x="6035040" y="320040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playsound</a:t>
            </a:r>
            <a:endParaRPr lang="en-US" sz="1200" dirty="0"/>
          </a:p>
        </p:txBody>
      </p:sp>
      <p:sp>
        <p:nvSpPr>
          <p:cNvPr id="31" name="Text 29"/>
          <p:cNvSpPr/>
          <p:nvPr/>
        </p:nvSpPr>
        <p:spPr>
          <a:xfrm>
            <a:off x="6172200" y="376732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in-app audio preview (original &amp; cleaned)</a:t>
            </a:r>
            <a:endParaRPr lang="en-US" sz="950" dirty="0"/>
          </a:p>
        </p:txBody>
      </p:sp>
      <p:sp>
        <p:nvSpPr>
          <p:cNvPr id="32" name="Shape 30"/>
          <p:cNvSpPr/>
          <p:nvPr/>
        </p:nvSpPr>
        <p:spPr>
          <a:xfrm>
            <a:off x="8778240" y="3200400"/>
            <a:ext cx="2560320" cy="1554480"/>
          </a:xfrm>
          <a:prstGeom prst="roundRect">
            <a:avLst>
              <a:gd name="adj" fmla="val 7059"/>
            </a:avLst>
          </a:prstGeom>
          <a:solidFill>
            <a:srgbClr val="F2F5F9"/>
          </a:solidFill>
          <a:ln/>
          <a:effectLst>
            <a:outerShdw sx="100000" sy="100000" kx="0" ky="0" algn="bl" rotWithShape="0" blurRad="101600" dist="25400" dir="5400000">
              <a:srgbClr val="94A3B8">
                <a:alpha val="28000"/>
              </a:srgbClr>
            </a:outerShdw>
          </a:effectLst>
        </p:spPr>
      </p:sp>
      <p:sp>
        <p:nvSpPr>
          <p:cNvPr id="33" name="Shape 31"/>
          <p:cNvSpPr/>
          <p:nvPr/>
        </p:nvSpPr>
        <p:spPr>
          <a:xfrm>
            <a:off x="8778240" y="3200400"/>
            <a:ext cx="2560320" cy="457200"/>
          </a:xfrm>
          <a:prstGeom prst="rect">
            <a:avLst/>
          </a:prstGeom>
          <a:solidFill>
            <a:srgbClr val="5F6B7A"/>
          </a:solidFill>
          <a:ln/>
        </p:spPr>
      </p:sp>
      <p:sp>
        <p:nvSpPr>
          <p:cNvPr id="34" name="Text 32"/>
          <p:cNvSpPr/>
          <p:nvPr/>
        </p:nvSpPr>
        <p:spPr>
          <a:xfrm>
            <a:off x="8778240" y="3200400"/>
            <a:ext cx="256032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tempfile / subprocess / os</a:t>
            </a:r>
            <a:endParaRPr lang="en-US" sz="1200" dirty="0"/>
          </a:p>
        </p:txBody>
      </p:sp>
      <p:sp>
        <p:nvSpPr>
          <p:cNvPr id="35" name="Text 33"/>
          <p:cNvSpPr/>
          <p:nvPr/>
        </p:nvSpPr>
        <p:spPr>
          <a:xfrm>
            <a:off x="8915400" y="3767328"/>
            <a:ext cx="2286000" cy="91440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standard library — temp files, running FFmpeg</a:t>
            </a:r>
            <a:endParaRPr lang="en-US" sz="950" dirty="0"/>
          </a:p>
        </p:txBody>
      </p:sp>
      <p:sp>
        <p:nvSpPr>
          <p:cNvPr id="36" name="Text 34"/>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2E7D32"/>
                </a:solidFill>
                <a:latin typeface="Calibri" pitchFamily="34" charset="0"/>
                <a:ea typeface="Calibri" pitchFamily="34" charset="-122"/>
                <a:cs typeface="Calibri" pitchFamily="34" charset="-120"/>
              </a:rPr>
              <a:t>SYSTEM REQUIREMENTS</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System Requirements</a:t>
            </a:r>
            <a:endParaRPr lang="en-US" sz="3100" dirty="0"/>
          </a:p>
        </p:txBody>
      </p:sp>
      <p:sp>
        <p:nvSpPr>
          <p:cNvPr id="4" name="Shape 2"/>
          <p:cNvSpPr/>
          <p:nvPr/>
        </p:nvSpPr>
        <p:spPr>
          <a:xfrm>
            <a:off x="548640" y="1463040"/>
            <a:ext cx="5394960" cy="4206240"/>
          </a:xfrm>
          <a:prstGeom prst="roundRect">
            <a:avLst>
              <a:gd name="adj" fmla="val 2609"/>
            </a:avLst>
          </a:prstGeom>
          <a:solidFill>
            <a:srgbClr val="F2F5F9"/>
          </a:solidFill>
          <a:ln/>
          <a:effectLst>
            <a:outerShdw sx="100000" sy="100000" kx="0" ky="0" algn="bl" rotWithShape="0" blurRad="101600" dist="25400" dir="5400000">
              <a:srgbClr val="94A3B8">
                <a:alpha val="28000"/>
              </a:srgbClr>
            </a:outerShdw>
          </a:effectLst>
        </p:spPr>
      </p:sp>
      <p:sp>
        <p:nvSpPr>
          <p:cNvPr id="5" name="Shape 3"/>
          <p:cNvSpPr/>
          <p:nvPr/>
        </p:nvSpPr>
        <p:spPr>
          <a:xfrm>
            <a:off x="548640" y="1463040"/>
            <a:ext cx="5394960" cy="457200"/>
          </a:xfrm>
          <a:prstGeom prst="rect">
            <a:avLst/>
          </a:prstGeom>
          <a:solidFill>
            <a:srgbClr val="E53935"/>
          </a:solidFill>
          <a:ln/>
        </p:spPr>
      </p:sp>
      <p:sp>
        <p:nvSpPr>
          <p:cNvPr id="6" name="Text 4"/>
          <p:cNvSpPr/>
          <p:nvPr/>
        </p:nvSpPr>
        <p:spPr>
          <a:xfrm>
            <a:off x="548640" y="1463040"/>
            <a:ext cx="539496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Hardware</a:t>
            </a:r>
            <a:endParaRPr lang="en-US" sz="1450" dirty="0"/>
          </a:p>
        </p:txBody>
      </p:sp>
      <p:sp>
        <p:nvSpPr>
          <p:cNvPr id="7" name="Text 5"/>
          <p:cNvSpPr/>
          <p:nvPr/>
        </p:nvSpPr>
        <p:spPr>
          <a:xfrm>
            <a:off x="822960" y="2057400"/>
            <a:ext cx="4846320" cy="3474720"/>
          </a:xfrm>
          <a:prstGeom prst="rect">
            <a:avLst/>
          </a:prstGeom>
          <a:noFill/>
          <a:ln/>
        </p:spPr>
        <p:txBody>
          <a:bodyPr wrap="square" lIns="0" tIns="0" rIns="0" bIns="0" rtlCol="0" anchor="t"/>
          <a:lstStyle/>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Any PC/laptop capable of running Python 3</a:t>
            </a:r>
            <a:endParaRPr lang="en-US" sz="1200" dirty="0"/>
          </a:p>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Minimum 4 GB RAM recommended</a:t>
            </a:r>
            <a:endParaRPr lang="en-US" sz="1200" dirty="0"/>
          </a:p>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Sufficient disk space for temp WAV files</a:t>
            </a:r>
            <a:endParaRPr lang="en-US" sz="1200" dirty="0"/>
          </a:p>
        </p:txBody>
      </p:sp>
      <p:sp>
        <p:nvSpPr>
          <p:cNvPr id="8" name="Shape 6"/>
          <p:cNvSpPr/>
          <p:nvPr/>
        </p:nvSpPr>
        <p:spPr>
          <a:xfrm>
            <a:off x="6217920" y="1463040"/>
            <a:ext cx="5394960" cy="4206240"/>
          </a:xfrm>
          <a:prstGeom prst="roundRect">
            <a:avLst>
              <a:gd name="adj" fmla="val 2609"/>
            </a:avLst>
          </a:prstGeom>
          <a:solidFill>
            <a:srgbClr val="F2F5F9"/>
          </a:solidFill>
          <a:ln/>
          <a:effectLst>
            <a:outerShdw sx="100000" sy="100000" kx="0" ky="0" algn="bl" rotWithShape="0" blurRad="101600" dist="25400" dir="5400000">
              <a:srgbClr val="94A3B8">
                <a:alpha val="28000"/>
              </a:srgbClr>
            </a:outerShdw>
          </a:effectLst>
        </p:spPr>
      </p:sp>
      <p:sp>
        <p:nvSpPr>
          <p:cNvPr id="9" name="Shape 7"/>
          <p:cNvSpPr/>
          <p:nvPr/>
        </p:nvSpPr>
        <p:spPr>
          <a:xfrm>
            <a:off x="6217920" y="1463040"/>
            <a:ext cx="5394960" cy="457200"/>
          </a:xfrm>
          <a:prstGeom prst="rect">
            <a:avLst/>
          </a:prstGeom>
          <a:solidFill>
            <a:srgbClr val="1E88E5"/>
          </a:solidFill>
          <a:ln/>
        </p:spPr>
      </p:sp>
      <p:sp>
        <p:nvSpPr>
          <p:cNvPr id="10" name="Text 8"/>
          <p:cNvSpPr/>
          <p:nvPr/>
        </p:nvSpPr>
        <p:spPr>
          <a:xfrm>
            <a:off x="6217920" y="1463040"/>
            <a:ext cx="5394960"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Software</a:t>
            </a:r>
            <a:endParaRPr lang="en-US" sz="1450" dirty="0"/>
          </a:p>
        </p:txBody>
      </p:sp>
      <p:sp>
        <p:nvSpPr>
          <p:cNvPr id="11" name="Text 9"/>
          <p:cNvSpPr/>
          <p:nvPr/>
        </p:nvSpPr>
        <p:spPr>
          <a:xfrm>
            <a:off x="6492240" y="2057400"/>
            <a:ext cx="4846320" cy="3474720"/>
          </a:xfrm>
          <a:prstGeom prst="rect">
            <a:avLst/>
          </a:prstGeom>
          <a:noFill/>
          <a:ln/>
        </p:spPr>
        <p:txBody>
          <a:bodyPr wrap="square" lIns="0" tIns="0" rIns="0" bIns="0" rtlCol="0" anchor="t"/>
          <a:lstStyle/>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Windows OS (FFmpeg path is hard-coded to C:\ffmpeg\bin\ffmpeg.exe)</a:t>
            </a:r>
            <a:endParaRPr lang="en-US" sz="1200" dirty="0"/>
          </a:p>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Python 3.x installed</a:t>
            </a:r>
            <a:endParaRPr lang="en-US" sz="1200" dirty="0"/>
          </a:p>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FFmpeg installed &amp; accessible at that path</a:t>
            </a:r>
            <a:endParaRPr lang="en-US" sz="1200" dirty="0"/>
          </a:p>
          <a:p>
            <a:pPr marL="177800" indent="-177800">
              <a:lnSpc>
                <a:spcPct val="104000"/>
              </a:lnSpc>
              <a:spcAft>
                <a:spcPts val="1600"/>
              </a:spcAft>
              <a:buSzPct val="100000"/>
              <a:buChar char="■"/>
            </a:pPr>
            <a:r>
              <a:rPr lang="en-US" sz="1200" dirty="0">
                <a:solidFill>
                  <a:srgbClr val="1F2937"/>
                </a:solidFill>
                <a:latin typeface="Calibri" pitchFamily="34" charset="0"/>
                <a:ea typeface="Calibri" pitchFamily="34" charset="-122"/>
                <a:cs typeface="Calibri" pitchFamily="34" charset="-120"/>
              </a:rPr>
              <a:t>Required pip packages: moviepy, scipy, noisereduce, playsound</a:t>
            </a:r>
            <a:endParaRPr lang="en-US" sz="1200" dirty="0"/>
          </a:p>
        </p:txBody>
      </p:sp>
      <p:sp>
        <p:nvSpPr>
          <p:cNvPr id="12" name="Text 10"/>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5E35B1"/>
                </a:solidFill>
                <a:latin typeface="Calibri" pitchFamily="34" charset="0"/>
                <a:ea typeface="Calibri" pitchFamily="34" charset="-122"/>
                <a:cs typeface="Calibri" pitchFamily="34" charset="-120"/>
              </a:rPr>
              <a:t>SYSTEM ARCHITECTURE</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System Architecture</a:t>
            </a:r>
            <a:endParaRPr lang="en-US" sz="3100" dirty="0"/>
          </a:p>
        </p:txBody>
      </p:sp>
      <p:sp>
        <p:nvSpPr>
          <p:cNvPr id="4" name="Shape 2"/>
          <p:cNvSpPr/>
          <p:nvPr/>
        </p:nvSpPr>
        <p:spPr>
          <a:xfrm>
            <a:off x="548640" y="1325880"/>
            <a:ext cx="11064240" cy="4892040"/>
          </a:xfrm>
          <a:prstGeom prst="roundRect">
            <a:avLst>
              <a:gd name="adj" fmla="val 2243"/>
            </a:avLst>
          </a:prstGeom>
          <a:solidFill>
            <a:srgbClr val="F2F5F9"/>
          </a:solidFill>
          <a:ln/>
          <a:effectLst>
            <a:outerShdw sx="100000" sy="100000" kx="0" ky="0" algn="bl" rotWithShape="0" blurRad="101600" dist="25400" dir="5400000">
              <a:srgbClr val="94A3B8">
                <a:alpha val="28000"/>
              </a:srgbClr>
            </a:outerShdw>
          </a:effectLst>
        </p:spPr>
      </p:sp>
      <p:pic>
        <p:nvPicPr>
          <p:cNvPr id="5" name="Image 0" descr="/home/claude/img/real_architecture.png">    </p:cNvPr>
          <p:cNvPicPr>
            <a:picLocks noChangeAspect="1"/>
          </p:cNvPicPr>
          <p:nvPr/>
        </p:nvPicPr>
        <p:blipFill>
          <a:blip r:embed="rId1"/>
          <a:stretch>
            <a:fillRect/>
          </a:stretch>
        </p:blipFill>
        <p:spPr>
          <a:xfrm>
            <a:off x="685800" y="1614240"/>
            <a:ext cx="10789920" cy="4315321"/>
          </a:xfrm>
          <a:prstGeom prst="rect">
            <a:avLst/>
          </a:prstGeom>
        </p:spPr>
      </p:pic>
      <p:sp>
        <p:nvSpPr>
          <p:cNvPr id="6" name="Text 3"/>
          <p:cNvSpPr/>
          <p:nvPr/>
        </p:nvSpPr>
        <p:spPr>
          <a:xfrm>
            <a:off x="548640" y="6309360"/>
            <a:ext cx="11064240" cy="292608"/>
          </a:xfrm>
          <a:prstGeom prst="rect">
            <a:avLst/>
          </a:prstGeom>
          <a:noFill/>
          <a:ln/>
        </p:spPr>
        <p:txBody>
          <a:bodyPr wrap="square" lIns="0" tIns="0" rIns="0" bIns="0" rtlCol="0" anchor="ctr"/>
          <a:lstStyle/>
          <a:p>
            <a:pPr algn="ctr" indent="0" marL="0">
              <a:buNone/>
            </a:pPr>
            <a:r>
              <a:rPr lang="en-US" sz="1100" i="1" dirty="0">
                <a:solidFill>
                  <a:srgbClr val="5F6B7A"/>
                </a:solidFill>
                <a:latin typeface="Calibri" pitchFamily="34" charset="0"/>
                <a:ea typeface="Calibri" pitchFamily="34" charset="-122"/>
                <a:cs typeface="Calibri" pitchFamily="34" charset="-120"/>
              </a:rPr>
              <a:t>Fig. 1 — Tkinter frontend, Python processing functions, and the external libraries/FFmpeg they call</a:t>
            </a:r>
            <a:endParaRPr lang="en-US" sz="1100" dirty="0"/>
          </a:p>
        </p:txBody>
      </p:sp>
      <p:sp>
        <p:nvSpPr>
          <p:cNvPr id="7" name="Text 4"/>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E53935"/>
                </a:solidFill>
                <a:latin typeface="Calibri" pitchFamily="34" charset="0"/>
                <a:ea typeface="Calibri" pitchFamily="34" charset="-122"/>
                <a:cs typeface="Calibri" pitchFamily="34" charset="-120"/>
              </a:rPr>
              <a:t>GUI DESIGN</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Application GUI Layout</a:t>
            </a:r>
            <a:endParaRPr lang="en-US" sz="3100" dirty="0"/>
          </a:p>
        </p:txBody>
      </p:sp>
      <p:sp>
        <p:nvSpPr>
          <p:cNvPr id="4" name="Shape 2"/>
          <p:cNvSpPr/>
          <p:nvPr/>
        </p:nvSpPr>
        <p:spPr>
          <a:xfrm>
            <a:off x="548640" y="1325880"/>
            <a:ext cx="5852160" cy="4892040"/>
          </a:xfrm>
          <a:prstGeom prst="roundRect">
            <a:avLst>
              <a:gd name="adj" fmla="val 2243"/>
            </a:avLst>
          </a:prstGeom>
          <a:solidFill>
            <a:srgbClr val="F2F5F9"/>
          </a:solidFill>
          <a:ln/>
          <a:effectLst>
            <a:outerShdw sx="100000" sy="100000" kx="0" ky="0" algn="bl" rotWithShape="0" blurRad="101600" dist="25400" dir="5400000">
              <a:srgbClr val="94A3B8">
                <a:alpha val="28000"/>
              </a:srgbClr>
            </a:outerShdw>
          </a:effectLst>
        </p:spPr>
      </p:sp>
      <p:pic>
        <p:nvPicPr>
          <p:cNvPr id="5" name="Image 0" descr="/home/claude/img/gui_layout.png">    </p:cNvPr>
          <p:cNvPicPr>
            <a:picLocks noChangeAspect="1"/>
          </p:cNvPicPr>
          <p:nvPr/>
        </p:nvPicPr>
        <p:blipFill>
          <a:blip r:embed="rId1"/>
          <a:stretch>
            <a:fillRect/>
          </a:stretch>
        </p:blipFill>
        <p:spPr>
          <a:xfrm>
            <a:off x="685800" y="1603236"/>
            <a:ext cx="5577840" cy="4337328"/>
          </a:xfrm>
          <a:prstGeom prst="rect">
            <a:avLst/>
          </a:prstGeom>
        </p:spPr>
      </p:pic>
      <p:sp>
        <p:nvSpPr>
          <p:cNvPr id="6" name="Text 3"/>
          <p:cNvSpPr/>
          <p:nvPr/>
        </p:nvSpPr>
        <p:spPr>
          <a:xfrm>
            <a:off x="548640" y="6309360"/>
            <a:ext cx="5852160" cy="292608"/>
          </a:xfrm>
          <a:prstGeom prst="rect">
            <a:avLst/>
          </a:prstGeom>
          <a:noFill/>
          <a:ln/>
        </p:spPr>
        <p:txBody>
          <a:bodyPr wrap="square" lIns="0" tIns="0" rIns="0" bIns="0" rtlCol="0" anchor="ctr"/>
          <a:lstStyle/>
          <a:p>
            <a:pPr algn="ctr" indent="0" marL="0">
              <a:buNone/>
            </a:pPr>
            <a:r>
              <a:rPr lang="en-US" sz="1100" i="1" dirty="0">
                <a:solidFill>
                  <a:srgbClr val="5F6B7A"/>
                </a:solidFill>
                <a:latin typeface="Calibri" pitchFamily="34" charset="0"/>
                <a:ea typeface="Calibri" pitchFamily="34" charset="-122"/>
                <a:cs typeface="Calibri" pitchFamily="34" charset="-120"/>
              </a:rPr>
              <a:t>Fig. 2 — Reconstructed from the Tkinter widget definitions</a:t>
            </a:r>
            <a:endParaRPr lang="en-US" sz="1100" dirty="0"/>
          </a:p>
        </p:txBody>
      </p:sp>
      <p:sp>
        <p:nvSpPr>
          <p:cNvPr id="7" name="Shape 4"/>
          <p:cNvSpPr/>
          <p:nvPr/>
        </p:nvSpPr>
        <p:spPr>
          <a:xfrm>
            <a:off x="6675120" y="1463040"/>
            <a:ext cx="4937760" cy="822960"/>
          </a:xfrm>
          <a:prstGeom prst="roundRect">
            <a:avLst>
              <a:gd name="adj" fmla="val 13333"/>
            </a:avLst>
          </a:prstGeom>
          <a:solidFill>
            <a:srgbClr val="F2F5F9"/>
          </a:solidFill>
          <a:ln/>
          <a:effectLst>
            <a:outerShdw sx="100000" sy="100000" kx="0" ky="0" algn="bl" rotWithShape="0" blurRad="101600" dist="25400" dir="5400000">
              <a:srgbClr val="94A3B8">
                <a:alpha val="28000"/>
              </a:srgbClr>
            </a:outerShdw>
          </a:effectLst>
        </p:spPr>
      </p:sp>
      <p:sp>
        <p:nvSpPr>
          <p:cNvPr id="8" name="Text 5"/>
          <p:cNvSpPr/>
          <p:nvPr/>
        </p:nvSpPr>
        <p:spPr>
          <a:xfrm>
            <a:off x="6858000" y="1508760"/>
            <a:ext cx="4617720" cy="731520"/>
          </a:xfrm>
          <a:prstGeom prst="rect">
            <a:avLst/>
          </a:prstGeom>
          <a:noFill/>
          <a:ln/>
        </p:spPr>
        <p:txBody>
          <a:bodyPr wrap="square" lIns="0" tIns="0" rIns="0" bIns="0" rtlCol="0" anchor="ctr"/>
          <a:lstStyle/>
          <a:p>
            <a:pPr indent="0" marL="0">
              <a:buNone/>
            </a:pPr>
            <a:r>
              <a:rPr lang="en-US" sz="1100" b="1" dirty="0">
                <a:solidFill>
                  <a:srgbClr val="1E88E5"/>
                </a:solidFill>
                <a:latin typeface="Calibri" pitchFamily="34" charset="0"/>
                <a:ea typeface="Calibri" pitchFamily="34" charset="-122"/>
                <a:cs typeface="Calibri" pitchFamily="34" charset="-120"/>
              </a:rPr>
              <a:t>Label: </a:t>
            </a:r>
            <a:pPr indent="0" marL="0">
              <a:buNone/>
            </a:pPr>
            <a:r>
              <a:rPr lang="en-US" sz="1100" dirty="0">
                <a:solidFill>
                  <a:srgbClr val="1F2937"/>
                </a:solidFill>
                <a:latin typeface="Calibri" pitchFamily="34" charset="0"/>
                <a:ea typeface="Calibri" pitchFamily="34" charset="-122"/>
                <a:cs typeface="Calibri" pitchFamily="34" charset="-120"/>
              </a:rPr>
              <a:t>prompts the user to select a video file</a:t>
            </a:r>
            <a:endParaRPr lang="en-US" sz="1100" dirty="0"/>
          </a:p>
        </p:txBody>
      </p:sp>
      <p:sp>
        <p:nvSpPr>
          <p:cNvPr id="9" name="Shape 6"/>
          <p:cNvSpPr/>
          <p:nvPr/>
        </p:nvSpPr>
        <p:spPr>
          <a:xfrm>
            <a:off x="6675120" y="2423160"/>
            <a:ext cx="4937760" cy="822960"/>
          </a:xfrm>
          <a:prstGeom prst="roundRect">
            <a:avLst>
              <a:gd name="adj" fmla="val 13333"/>
            </a:avLst>
          </a:prstGeom>
          <a:solidFill>
            <a:srgbClr val="F2F5F9"/>
          </a:solidFill>
          <a:ln/>
          <a:effectLst>
            <a:outerShdw sx="100000" sy="100000" kx="0" ky="0" algn="bl" rotWithShape="0" blurRad="101600" dist="25400" dir="5400000">
              <a:srgbClr val="94A3B8">
                <a:alpha val="28000"/>
              </a:srgbClr>
            </a:outerShdw>
          </a:effectLst>
        </p:spPr>
      </p:sp>
      <p:sp>
        <p:nvSpPr>
          <p:cNvPr id="10" name="Text 7"/>
          <p:cNvSpPr/>
          <p:nvPr/>
        </p:nvSpPr>
        <p:spPr>
          <a:xfrm>
            <a:off x="6858000" y="2468880"/>
            <a:ext cx="4617720" cy="731520"/>
          </a:xfrm>
          <a:prstGeom prst="rect">
            <a:avLst/>
          </a:prstGeom>
          <a:noFill/>
          <a:ln/>
        </p:spPr>
        <p:txBody>
          <a:bodyPr wrap="square" lIns="0" tIns="0" rIns="0" bIns="0" rtlCol="0" anchor="ctr"/>
          <a:lstStyle/>
          <a:p>
            <a:pPr indent="0" marL="0">
              <a:buNone/>
            </a:pPr>
            <a:r>
              <a:rPr lang="en-US" sz="1100" b="1" dirty="0">
                <a:solidFill>
                  <a:srgbClr val="E53935"/>
                </a:solidFill>
                <a:latin typeface="Calibri" pitchFamily="34" charset="0"/>
                <a:ea typeface="Calibri" pitchFamily="34" charset="-122"/>
                <a:cs typeface="Calibri" pitchFamily="34" charset="-120"/>
              </a:rPr>
              <a:t>Browse button: </a:t>
            </a:r>
            <a:pPr indent="0" marL="0">
              <a:buNone/>
            </a:pPr>
            <a:r>
              <a:rPr lang="en-US" sz="1100" dirty="0">
                <a:solidFill>
                  <a:srgbClr val="1F2937"/>
                </a:solidFill>
                <a:latin typeface="Calibri" pitchFamily="34" charset="0"/>
                <a:ea typeface="Calibri" pitchFamily="34" charset="-122"/>
                <a:cs typeface="Calibri" pitchFamily="34" charset="-120"/>
              </a:rPr>
              <a:t>opens a file dialog filtered to .mp4/.mkv</a:t>
            </a:r>
            <a:endParaRPr lang="en-US" sz="1100" dirty="0"/>
          </a:p>
        </p:txBody>
      </p:sp>
      <p:sp>
        <p:nvSpPr>
          <p:cNvPr id="11" name="Shape 8"/>
          <p:cNvSpPr/>
          <p:nvPr/>
        </p:nvSpPr>
        <p:spPr>
          <a:xfrm>
            <a:off x="6675120" y="3383280"/>
            <a:ext cx="4937760" cy="822960"/>
          </a:xfrm>
          <a:prstGeom prst="roundRect">
            <a:avLst>
              <a:gd name="adj" fmla="val 13333"/>
            </a:avLst>
          </a:prstGeom>
          <a:solidFill>
            <a:srgbClr val="F2F5F9"/>
          </a:solidFill>
          <a:ln/>
          <a:effectLst>
            <a:outerShdw sx="100000" sy="100000" kx="0" ky="0" algn="bl" rotWithShape="0" blurRad="101600" dist="25400" dir="5400000">
              <a:srgbClr val="94A3B8">
                <a:alpha val="28000"/>
              </a:srgbClr>
            </a:outerShdw>
          </a:effectLst>
        </p:spPr>
      </p:sp>
      <p:sp>
        <p:nvSpPr>
          <p:cNvPr id="12" name="Text 9"/>
          <p:cNvSpPr/>
          <p:nvPr/>
        </p:nvSpPr>
        <p:spPr>
          <a:xfrm>
            <a:off x="6858000" y="3429000"/>
            <a:ext cx="4617720" cy="731520"/>
          </a:xfrm>
          <a:prstGeom prst="rect">
            <a:avLst/>
          </a:prstGeom>
          <a:noFill/>
          <a:ln/>
        </p:spPr>
        <p:txBody>
          <a:bodyPr wrap="square" lIns="0" tIns="0" rIns="0" bIns="0" rtlCol="0" anchor="ctr"/>
          <a:lstStyle/>
          <a:p>
            <a:pPr indent="0" marL="0">
              <a:buNone/>
            </a:pPr>
            <a:r>
              <a:rPr lang="en-US" sz="1100" b="1" dirty="0">
                <a:solidFill>
                  <a:srgbClr val="2E7D32"/>
                </a:solidFill>
                <a:latin typeface="Calibri" pitchFamily="34" charset="0"/>
                <a:ea typeface="Calibri" pitchFamily="34" charset="-122"/>
                <a:cs typeface="Calibri" pitchFamily="34" charset="-120"/>
              </a:rPr>
              <a:t>Progress bar: </a:t>
            </a:r>
            <a:pPr indent="0" marL="0">
              <a:buNone/>
            </a:pPr>
            <a:r>
              <a:rPr lang="en-US" sz="1100" dirty="0">
                <a:solidFill>
                  <a:srgbClr val="1F2937"/>
                </a:solidFill>
                <a:latin typeface="Calibri" pitchFamily="34" charset="0"/>
                <a:ea typeface="Calibri" pitchFamily="34" charset="-122"/>
                <a:cs typeface="Calibri" pitchFamily="34" charset="-120"/>
              </a:rPr>
              <a:t>shows processing progress (10→30→70→100)</a:t>
            </a:r>
            <a:endParaRPr lang="en-US" sz="1100" dirty="0"/>
          </a:p>
        </p:txBody>
      </p:sp>
      <p:sp>
        <p:nvSpPr>
          <p:cNvPr id="13" name="Shape 10"/>
          <p:cNvSpPr/>
          <p:nvPr/>
        </p:nvSpPr>
        <p:spPr>
          <a:xfrm>
            <a:off x="6675120" y="4343400"/>
            <a:ext cx="4937760" cy="822960"/>
          </a:xfrm>
          <a:prstGeom prst="roundRect">
            <a:avLst>
              <a:gd name="adj" fmla="val 13333"/>
            </a:avLst>
          </a:prstGeom>
          <a:solidFill>
            <a:srgbClr val="F2F5F9"/>
          </a:solidFill>
          <a:ln/>
          <a:effectLst>
            <a:outerShdw sx="100000" sy="100000" kx="0" ky="0" algn="bl" rotWithShape="0" blurRad="101600" dist="25400" dir="5400000">
              <a:srgbClr val="94A3B8">
                <a:alpha val="28000"/>
              </a:srgbClr>
            </a:outerShdw>
          </a:effectLst>
        </p:spPr>
      </p:sp>
      <p:sp>
        <p:nvSpPr>
          <p:cNvPr id="14" name="Text 11"/>
          <p:cNvSpPr/>
          <p:nvPr/>
        </p:nvSpPr>
        <p:spPr>
          <a:xfrm>
            <a:off x="6858000" y="4389120"/>
            <a:ext cx="4617720" cy="731520"/>
          </a:xfrm>
          <a:prstGeom prst="rect">
            <a:avLst/>
          </a:prstGeom>
          <a:noFill/>
          <a:ln/>
        </p:spPr>
        <p:txBody>
          <a:bodyPr wrap="square" lIns="0" tIns="0" rIns="0" bIns="0" rtlCol="0" anchor="ctr"/>
          <a:lstStyle/>
          <a:p>
            <a:pPr indent="0" marL="0">
              <a:buNone/>
            </a:pPr>
            <a:r>
              <a:rPr lang="en-US" sz="1100" b="1" dirty="0">
                <a:solidFill>
                  <a:srgbClr val="00897B"/>
                </a:solidFill>
                <a:latin typeface="Calibri" pitchFamily="34" charset="0"/>
                <a:ea typeface="Calibri" pitchFamily="34" charset="-122"/>
                <a:cs typeface="Calibri" pitchFamily="34" charset="-120"/>
              </a:rPr>
              <a:t>Clean Audio button: </a:t>
            </a:r>
            <a:pPr indent="0" marL="0">
              <a:buNone/>
            </a:pPr>
            <a:r>
              <a:rPr lang="en-US" sz="1100" dirty="0">
                <a:solidFill>
                  <a:srgbClr val="1F2937"/>
                </a:solidFill>
                <a:latin typeface="Calibri" pitchFamily="34" charset="0"/>
                <a:ea typeface="Calibri" pitchFamily="34" charset="-122"/>
                <a:cs typeface="Calibri" pitchFamily="34" charset="-120"/>
              </a:rPr>
              <a:t>triggers the full pipeline</a:t>
            </a:r>
            <a:endParaRPr lang="en-US" sz="1100" dirty="0"/>
          </a:p>
        </p:txBody>
      </p:sp>
      <p:sp>
        <p:nvSpPr>
          <p:cNvPr id="15" name="Shape 12"/>
          <p:cNvSpPr/>
          <p:nvPr/>
        </p:nvSpPr>
        <p:spPr>
          <a:xfrm>
            <a:off x="6675120" y="5303520"/>
            <a:ext cx="4937760" cy="822960"/>
          </a:xfrm>
          <a:prstGeom prst="roundRect">
            <a:avLst>
              <a:gd name="adj" fmla="val 13333"/>
            </a:avLst>
          </a:prstGeom>
          <a:solidFill>
            <a:srgbClr val="F2F5F9"/>
          </a:solidFill>
          <a:ln/>
          <a:effectLst>
            <a:outerShdw sx="100000" sy="100000" kx="0" ky="0" algn="bl" rotWithShape="0" blurRad="101600" dist="25400" dir="5400000">
              <a:srgbClr val="94A3B8">
                <a:alpha val="28000"/>
              </a:srgbClr>
            </a:outerShdw>
          </a:effectLst>
        </p:spPr>
      </p:sp>
      <p:sp>
        <p:nvSpPr>
          <p:cNvPr id="16" name="Text 13"/>
          <p:cNvSpPr/>
          <p:nvPr/>
        </p:nvSpPr>
        <p:spPr>
          <a:xfrm>
            <a:off x="6858000" y="5349240"/>
            <a:ext cx="4617720" cy="731520"/>
          </a:xfrm>
          <a:prstGeom prst="rect">
            <a:avLst/>
          </a:prstGeom>
          <a:noFill/>
          <a:ln/>
        </p:spPr>
        <p:txBody>
          <a:bodyPr wrap="square" lIns="0" tIns="0" rIns="0" bIns="0" rtlCol="0" anchor="ctr"/>
          <a:lstStyle/>
          <a:p>
            <a:pPr indent="0" marL="0">
              <a:buNone/>
            </a:pPr>
            <a:r>
              <a:rPr lang="en-US" sz="1100" b="1" dirty="0">
                <a:solidFill>
                  <a:srgbClr val="5E35B1"/>
                </a:solidFill>
                <a:latin typeface="Calibri" pitchFamily="34" charset="0"/>
                <a:ea typeface="Calibri" pitchFamily="34" charset="-122"/>
                <a:cs typeface="Calibri" pitchFamily="34" charset="-120"/>
              </a:rPr>
              <a:t>Preview buttons: </a:t>
            </a:r>
            <a:pPr indent="0" marL="0">
              <a:buNone/>
            </a:pPr>
            <a:r>
              <a:rPr lang="en-US" sz="1100" dirty="0">
                <a:solidFill>
                  <a:srgbClr val="1F2937"/>
                </a:solidFill>
                <a:latin typeface="Calibri" pitchFamily="34" charset="0"/>
                <a:ea typeface="Calibri" pitchFamily="34" charset="-122"/>
                <a:cs typeface="Calibri" pitchFamily="34" charset="-120"/>
              </a:rPr>
              <a:t>play original / cleaned audio via playsound</a:t>
            </a:r>
            <a:endParaRPr lang="en-US" sz="1100" dirty="0"/>
          </a:p>
        </p:txBody>
      </p:sp>
      <p:sp>
        <p:nvSpPr>
          <p:cNvPr id="17" name="Text 14"/>
          <p:cNvSpPr/>
          <p:nvPr/>
        </p:nvSpPr>
        <p:spPr>
          <a:xfrm>
            <a:off x="6675120" y="6309360"/>
            <a:ext cx="4937760" cy="365760"/>
          </a:xfrm>
          <a:prstGeom prst="rect">
            <a:avLst/>
          </a:prstGeom>
          <a:noFill/>
          <a:ln/>
        </p:spPr>
        <p:txBody>
          <a:bodyPr wrap="square" lIns="0" tIns="0" rIns="0" bIns="0" rtlCol="0" anchor="ctr"/>
          <a:lstStyle/>
          <a:p>
            <a:pPr indent="0" marL="0">
              <a:buNone/>
            </a:pPr>
            <a:r>
              <a:rPr lang="en-US" sz="1050" i="1" dirty="0">
                <a:solidFill>
                  <a:srgbClr val="E53935"/>
                </a:solidFill>
                <a:latin typeface="Calibri" pitchFamily="34" charset="0"/>
                <a:ea typeface="Calibri" pitchFamily="34" charset="-122"/>
                <a:cs typeface="Calibri" pitchFamily="34" charset="-120"/>
              </a:rPr>
              <a:t>⚠ Replace with an actual screenshot of the running application for your final submission</a:t>
            </a:r>
            <a:endParaRPr lang="en-US" sz="1050" dirty="0"/>
          </a:p>
        </p:txBody>
      </p:sp>
      <p:sp>
        <p:nvSpPr>
          <p:cNvPr id="18" name="Text 1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2E7D32"/>
                </a:solidFill>
                <a:latin typeface="Calibri" pitchFamily="34" charset="0"/>
                <a:ea typeface="Calibri" pitchFamily="34" charset="-122"/>
                <a:cs typeface="Calibri" pitchFamily="34" charset="-120"/>
              </a:rPr>
              <a:t>PROCESSING PIPELINE</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Processing Pipeline — Exactly as Implemented</a:t>
            </a:r>
            <a:endParaRPr lang="en-US" sz="3100" dirty="0"/>
          </a:p>
        </p:txBody>
      </p:sp>
      <p:sp>
        <p:nvSpPr>
          <p:cNvPr id="4" name="Shape 2"/>
          <p:cNvSpPr/>
          <p:nvPr/>
        </p:nvSpPr>
        <p:spPr>
          <a:xfrm>
            <a:off x="548640" y="1371600"/>
            <a:ext cx="11064240" cy="3840480"/>
          </a:xfrm>
          <a:prstGeom prst="roundRect">
            <a:avLst>
              <a:gd name="adj" fmla="val 2857"/>
            </a:avLst>
          </a:prstGeom>
          <a:solidFill>
            <a:srgbClr val="F2F5F9"/>
          </a:solidFill>
          <a:ln/>
          <a:effectLst>
            <a:outerShdw sx="100000" sy="100000" kx="0" ky="0" algn="bl" rotWithShape="0" blurRad="101600" dist="25400" dir="5400000">
              <a:srgbClr val="94A3B8">
                <a:alpha val="28000"/>
              </a:srgbClr>
            </a:outerShdw>
          </a:effectLst>
        </p:spPr>
      </p:sp>
      <p:pic>
        <p:nvPicPr>
          <p:cNvPr id="5" name="Image 0" descr="/home/claude/img/real_pipeline.png">    </p:cNvPr>
          <p:cNvPicPr>
            <a:picLocks noChangeAspect="1"/>
          </p:cNvPicPr>
          <p:nvPr/>
        </p:nvPicPr>
        <p:blipFill>
          <a:blip r:embed="rId1"/>
          <a:stretch>
            <a:fillRect/>
          </a:stretch>
        </p:blipFill>
        <p:spPr>
          <a:xfrm>
            <a:off x="777240" y="1494741"/>
            <a:ext cx="10607040" cy="3594197"/>
          </a:xfrm>
          <a:prstGeom prst="rect">
            <a:avLst/>
          </a:prstGeom>
        </p:spPr>
      </p:pic>
      <p:sp>
        <p:nvSpPr>
          <p:cNvPr id="6" name="Text 3"/>
          <p:cNvSpPr/>
          <p:nvPr/>
        </p:nvSpPr>
        <p:spPr>
          <a:xfrm>
            <a:off x="548640" y="5321808"/>
            <a:ext cx="11064240" cy="292608"/>
          </a:xfrm>
          <a:prstGeom prst="rect">
            <a:avLst/>
          </a:prstGeom>
          <a:noFill/>
          <a:ln/>
        </p:spPr>
        <p:txBody>
          <a:bodyPr wrap="square" lIns="0" tIns="0" rIns="0" bIns="0" rtlCol="0" anchor="ctr"/>
          <a:lstStyle/>
          <a:p>
            <a:pPr algn="ctr" indent="0" marL="0">
              <a:buNone/>
            </a:pPr>
            <a:r>
              <a:rPr lang="en-US" sz="1100" i="1" dirty="0">
                <a:solidFill>
                  <a:srgbClr val="5F6B7A"/>
                </a:solidFill>
                <a:latin typeface="Calibri" pitchFamily="34" charset="0"/>
                <a:ea typeface="Calibri" pitchFamily="34" charset="-122"/>
                <a:cs typeface="Calibri" pitchFamily="34" charset="-120"/>
              </a:rPr>
              <a:t>Fig. 3 — Nine stages traced directly through the clean_audio() method</a:t>
            </a:r>
            <a:endParaRPr lang="en-US" sz="1100" dirty="0"/>
          </a:p>
        </p:txBody>
      </p:sp>
      <p:sp>
        <p:nvSpPr>
          <p:cNvPr id="7" name="Text 4"/>
          <p:cNvSpPr/>
          <p:nvPr/>
        </p:nvSpPr>
        <p:spPr>
          <a:xfrm>
            <a:off x="548640" y="5623560"/>
            <a:ext cx="11064240" cy="822960"/>
          </a:xfrm>
          <a:prstGeom prst="rect">
            <a:avLst/>
          </a:prstGeom>
          <a:noFill/>
          <a:ln/>
        </p:spPr>
        <p:txBody>
          <a:bodyPr wrap="square" lIns="0" tIns="0" rIns="0" bIns="0" rtlCol="0" anchor="t"/>
          <a:lstStyle/>
          <a:p>
            <a:pPr marL="177800" indent="-177800">
              <a:lnSpc>
                <a:spcPct val="104000"/>
              </a:lnSpc>
              <a:spcAft>
                <a:spcPts val="300"/>
              </a:spcAft>
              <a:buSzPct val="100000"/>
              <a:buChar char="■"/>
            </a:pPr>
            <a:r>
              <a:rPr lang="en-US" sz="1100" b="1" dirty="0">
                <a:solidFill>
                  <a:srgbClr val="1F2937"/>
                </a:solidFill>
                <a:latin typeface="Calibri" pitchFamily="34" charset="0"/>
                <a:ea typeface="Calibri" pitchFamily="34" charset="-122"/>
                <a:cs typeface="Calibri" pitchFamily="34" charset="-120"/>
              </a:rPr>
              <a:t>This is the ACTUAL pipeline in your code — not a generic textbook diagram. Note the specific implementation choice: noise_sample = data[:5000] (the first 5000 samples), which is discussed honestly in the Limitations slide.</a:t>
            </a:r>
            <a:endParaRPr lang="en-US" sz="1100" dirty="0"/>
          </a:p>
        </p:txBody>
      </p:sp>
      <p:sp>
        <p:nvSpPr>
          <p:cNvPr id="8" name="Text 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00897B"/>
                </a:solidFill>
                <a:latin typeface="Calibri" pitchFamily="34" charset="0"/>
                <a:ea typeface="Calibri" pitchFamily="34" charset="-122"/>
                <a:cs typeface="Calibri" pitchFamily="34" charset="-120"/>
              </a:rPr>
              <a:t>ALGORITHM</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clean_audio() — Algorithm Flowchart</a:t>
            </a:r>
            <a:endParaRPr lang="en-US" sz="3100" dirty="0"/>
          </a:p>
        </p:txBody>
      </p:sp>
      <p:sp>
        <p:nvSpPr>
          <p:cNvPr id="4" name="Shape 2"/>
          <p:cNvSpPr/>
          <p:nvPr/>
        </p:nvSpPr>
        <p:spPr>
          <a:xfrm>
            <a:off x="548640" y="1280160"/>
            <a:ext cx="11064240" cy="5029200"/>
          </a:xfrm>
          <a:prstGeom prst="roundRect">
            <a:avLst>
              <a:gd name="adj" fmla="val 2182"/>
            </a:avLst>
          </a:prstGeom>
          <a:solidFill>
            <a:srgbClr val="F2F5F9"/>
          </a:solidFill>
          <a:ln/>
          <a:effectLst>
            <a:outerShdw sx="100000" sy="100000" kx="0" ky="0" algn="bl" rotWithShape="0" blurRad="101600" dist="25400" dir="5400000">
              <a:srgbClr val="94A3B8">
                <a:alpha val="28000"/>
              </a:srgbClr>
            </a:outerShdw>
          </a:effectLst>
        </p:spPr>
      </p:sp>
      <p:pic>
        <p:nvPicPr>
          <p:cNvPr id="5" name="Image 0" descr="/home/claude/img/real_algo_flowchart.png">    </p:cNvPr>
          <p:cNvPicPr>
            <a:picLocks noChangeAspect="1"/>
          </p:cNvPicPr>
          <p:nvPr/>
        </p:nvPicPr>
        <p:blipFill>
          <a:blip r:embed="rId1"/>
          <a:stretch>
            <a:fillRect/>
          </a:stretch>
        </p:blipFill>
        <p:spPr>
          <a:xfrm>
            <a:off x="3970020" y="1371600"/>
            <a:ext cx="4038600" cy="4846320"/>
          </a:xfrm>
          <a:prstGeom prst="rect">
            <a:avLst/>
          </a:prstGeom>
        </p:spPr>
      </p:pic>
      <p:sp>
        <p:nvSpPr>
          <p:cNvPr id="6" name="Text 3"/>
          <p:cNvSpPr/>
          <p:nvPr/>
        </p:nvSpPr>
        <p:spPr>
          <a:xfrm>
            <a:off x="548640" y="6327648"/>
            <a:ext cx="11064240" cy="292608"/>
          </a:xfrm>
          <a:prstGeom prst="rect">
            <a:avLst/>
          </a:prstGeom>
          <a:noFill/>
          <a:ln/>
        </p:spPr>
        <p:txBody>
          <a:bodyPr wrap="square" lIns="0" tIns="0" rIns="0" bIns="0" rtlCol="0" anchor="ctr"/>
          <a:lstStyle/>
          <a:p>
            <a:pPr algn="ctr" indent="0" marL="0">
              <a:buNone/>
            </a:pPr>
            <a:r>
              <a:rPr lang="en-US" sz="1100" i="1" dirty="0">
                <a:solidFill>
                  <a:srgbClr val="5F6B7A"/>
                </a:solidFill>
                <a:latin typeface="Calibri" pitchFamily="34" charset="0"/>
                <a:ea typeface="Calibri" pitchFamily="34" charset="-122"/>
                <a:cs typeface="Calibri" pitchFamily="34" charset="-120"/>
              </a:rPr>
              <a:t>Fig. 4 — Including the actual decision points and the try/except/finally error handling</a:t>
            </a:r>
            <a:endParaRPr lang="en-US" sz="1100" dirty="0"/>
          </a:p>
        </p:txBody>
      </p:sp>
      <p:sp>
        <p:nvSpPr>
          <p:cNvPr id="7" name="Text 4"/>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E53935"/>
                </a:solidFill>
                <a:latin typeface="Calibri" pitchFamily="34" charset="0"/>
                <a:ea typeface="Calibri" pitchFamily="34" charset="-122"/>
                <a:cs typeface="Calibri" pitchFamily="34" charset="-120"/>
              </a:rPr>
              <a:t>SOURCE CODE WALKTHROUGH · PART 1</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GUI Setup — NoiseRemoverApp.__init__()</a:t>
            </a:r>
            <a:endParaRPr lang="en-US" sz="3100" dirty="0"/>
          </a:p>
        </p:txBody>
      </p:sp>
      <p:sp>
        <p:nvSpPr>
          <p:cNvPr id="4" name="Shape 2"/>
          <p:cNvSpPr/>
          <p:nvPr/>
        </p:nvSpPr>
        <p:spPr>
          <a:xfrm>
            <a:off x="548640" y="1417320"/>
            <a:ext cx="11064240" cy="3017520"/>
          </a:xfrm>
          <a:prstGeom prst="roundRect">
            <a:avLst>
              <a:gd name="adj" fmla="val 2424"/>
            </a:avLst>
          </a:prstGeom>
          <a:solidFill>
            <a:srgbClr val="1E2A38"/>
          </a:solidFill>
          <a:ln/>
        </p:spPr>
      </p:sp>
      <p:sp>
        <p:nvSpPr>
          <p:cNvPr id="5" name="Text 3"/>
          <p:cNvSpPr/>
          <p:nvPr/>
        </p:nvSpPr>
        <p:spPr>
          <a:xfrm>
            <a:off x="731520" y="1527048"/>
            <a:ext cx="10698480" cy="2798064"/>
          </a:xfrm>
          <a:prstGeom prst="rect">
            <a:avLst/>
          </a:prstGeom>
          <a:noFill/>
          <a:ln/>
        </p:spPr>
        <p:txBody>
          <a:bodyPr wrap="square" lIns="0" tIns="0" rIns="0" bIns="0" rtlCol="0" anchor="t"/>
          <a:lstStyle/>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class NoiseRemoverApp:</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def __init__(self, root):</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self.root = root</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self.root.title("Audio Noise Remover from Video")</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self.video_path = ""</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self.cleaned_audio_path = ""</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self.select_button = tk.Button(root, text="Browse",</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command=self.browse_file)</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self.progress = Progressbar(root, orient=tk.HORIZONTAL,</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length=300, mode="determinate")</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self.clean_button = tk.Button(root, text="Clean Audio",</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command=self.clean_audio)</a:t>
            </a:r>
            <a:endParaRPr lang="en-US" sz="1050" dirty="0"/>
          </a:p>
        </p:txBody>
      </p:sp>
      <p:sp>
        <p:nvSpPr>
          <p:cNvPr id="6" name="Text 4"/>
          <p:cNvSpPr/>
          <p:nvPr/>
        </p:nvSpPr>
        <p:spPr>
          <a:xfrm>
            <a:off x="548640" y="4572000"/>
            <a:ext cx="11064240" cy="1371600"/>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Each button's command= callback wires the GUI directly to a Python method — a standard, clean Tkinter pattern.</a:t>
            </a:r>
            <a:endParaRPr lang="en-US" sz="1200" dirty="0"/>
          </a:p>
          <a:p>
            <a:pPr marL="177800" indent="-177800">
              <a:lnSpc>
                <a:spcPct val="104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Instance variables video_path and cleaned_audio_path track state across the whole session, so Preview Cleaned Audio knows what file to play after cleaning finishes.</a:t>
            </a:r>
            <a:endParaRPr lang="en-US" sz="1200" dirty="0"/>
          </a:p>
        </p:txBody>
      </p:sp>
      <p:sp>
        <p:nvSpPr>
          <p:cNvPr id="7" name="Text 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1E88E5"/>
                </a:solidFill>
                <a:latin typeface="Calibri" pitchFamily="34" charset="0"/>
                <a:ea typeface="Calibri" pitchFamily="34" charset="-122"/>
                <a:cs typeface="Calibri" pitchFamily="34" charset="-120"/>
              </a:rPr>
              <a:t>SOURCE CODE WALKTHROUGH · PART 2</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The Core: Noise Reduction Logic</a:t>
            </a:r>
            <a:endParaRPr lang="en-US" sz="3100" dirty="0"/>
          </a:p>
        </p:txBody>
      </p:sp>
      <p:sp>
        <p:nvSpPr>
          <p:cNvPr id="4" name="Shape 2"/>
          <p:cNvSpPr/>
          <p:nvPr/>
        </p:nvSpPr>
        <p:spPr>
          <a:xfrm>
            <a:off x="548640" y="1417320"/>
            <a:ext cx="11064240" cy="3200400"/>
          </a:xfrm>
          <a:prstGeom prst="roundRect">
            <a:avLst>
              <a:gd name="adj" fmla="val 2286"/>
            </a:avLst>
          </a:prstGeom>
          <a:solidFill>
            <a:srgbClr val="1E2A38"/>
          </a:solidFill>
          <a:ln/>
        </p:spPr>
      </p:sp>
      <p:sp>
        <p:nvSpPr>
          <p:cNvPr id="5" name="Text 3"/>
          <p:cNvSpPr/>
          <p:nvPr/>
        </p:nvSpPr>
        <p:spPr>
          <a:xfrm>
            <a:off x="731520" y="1527048"/>
            <a:ext cx="10698480" cy="2980944"/>
          </a:xfrm>
          <a:prstGeom prst="rect">
            <a:avLst/>
          </a:prstGeom>
          <a:noFill/>
          <a:ln/>
        </p:spPr>
        <p:txBody>
          <a:bodyPr wrap="square" lIns="0" tIns="0" rIns="0" bIns="0" rtlCol="0" anchor="t"/>
          <a:lstStyle/>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rate, data = wavfile.read(temp_audio_path)</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if len(data.shape) == 2:          # stereo -&gt; mono</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data = data.mean(axis=1)</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noise_sample = data[:5000]        # assume opening = noise</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reduced_noise = nr.reduce_noise(</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y=data, sr=rate, y_noise=noise_sample)</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wavfile.write(cleaned_audio_file.name, rate,</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reduced_noise.astype("int16"))</a:t>
            </a:r>
            <a:endParaRPr lang="en-US" sz="1050" dirty="0"/>
          </a:p>
        </p:txBody>
      </p:sp>
      <p:sp>
        <p:nvSpPr>
          <p:cNvPr id="6" name="Text 4"/>
          <p:cNvSpPr/>
          <p:nvPr/>
        </p:nvSpPr>
        <p:spPr>
          <a:xfrm>
            <a:off x="548640" y="4754880"/>
            <a:ext cx="11064240" cy="1188720"/>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This is the entire noise-reduction step — nine lines doing the real DSP work, thanks to the noisereduce library abstracting the spectral-gating math.</a:t>
            </a:r>
            <a:endParaRPr lang="en-US" sz="1200" dirty="0"/>
          </a:p>
          <a:p>
            <a:pPr marL="177800" indent="-177800">
              <a:lnSpc>
                <a:spcPct val="104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astype("int16") is required because WAV PCM data is typically 16-bit signed integers — noisereduce internally works in floating point.</a:t>
            </a:r>
            <a:endParaRPr lang="en-US" sz="1200" dirty="0"/>
          </a:p>
        </p:txBody>
      </p:sp>
      <p:sp>
        <p:nvSpPr>
          <p:cNvPr id="7" name="Text 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2E7D32"/>
                </a:solidFill>
                <a:latin typeface="Calibri" pitchFamily="34" charset="0"/>
                <a:ea typeface="Calibri" pitchFamily="34" charset="-122"/>
                <a:cs typeface="Calibri" pitchFamily="34" charset="-120"/>
              </a:rPr>
              <a:t>SOURCE CODE WALKTHROUGH · PART 3</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Re-merging Audio into Video via FFmpeg</a:t>
            </a:r>
            <a:endParaRPr lang="en-US" sz="3100" dirty="0"/>
          </a:p>
        </p:txBody>
      </p:sp>
      <p:sp>
        <p:nvSpPr>
          <p:cNvPr id="4" name="Shape 2"/>
          <p:cNvSpPr/>
          <p:nvPr/>
        </p:nvSpPr>
        <p:spPr>
          <a:xfrm>
            <a:off x="548640" y="1417320"/>
            <a:ext cx="11064240" cy="2743200"/>
          </a:xfrm>
          <a:prstGeom prst="roundRect">
            <a:avLst>
              <a:gd name="adj" fmla="val 2667"/>
            </a:avLst>
          </a:prstGeom>
          <a:solidFill>
            <a:srgbClr val="1E2A38"/>
          </a:solidFill>
          <a:ln/>
        </p:spPr>
      </p:sp>
      <p:sp>
        <p:nvSpPr>
          <p:cNvPr id="5" name="Text 3"/>
          <p:cNvSpPr/>
          <p:nvPr/>
        </p:nvSpPr>
        <p:spPr>
          <a:xfrm>
            <a:off x="731520" y="1527048"/>
            <a:ext cx="10698480" cy="2523744"/>
          </a:xfrm>
          <a:prstGeom prst="rect">
            <a:avLst/>
          </a:prstGeom>
          <a:noFill/>
          <a:ln/>
        </p:spPr>
        <p:txBody>
          <a:bodyPr wrap="square" lIns="0" tIns="0" rIns="0" bIns="0" rtlCol="0" anchor="t"/>
          <a:lstStyle/>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output_video_path = os.path.splitext(self.video_path)[0] + "_cleaned.mp4"</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ffmpeg_path = r"C:\ffmpeg\bin\ffmpeg.exe"</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command = [ffmpeg_path, "-y", "-i", self.video_path,</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"-i", cleaned_audio_file.name, "-c:v", "copy", ... ]</a:t>
            </a:r>
            <a:endParaRPr lang="en-US" sz="1050" dirty="0"/>
          </a:p>
          <a:p>
            <a:pPr indent="0" marL="0">
              <a:lnSpc>
                <a:spcPct val="115000"/>
              </a:lnSpc>
              <a:buNone/>
            </a:pP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result = subprocess.run(command, capture_output=True, text=True)</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if result.returncode != 0:</a:t>
            </a:r>
            <a:endParaRPr lang="en-US" sz="1050" dirty="0"/>
          </a:p>
          <a:p>
            <a:pPr indent="0" marL="0">
              <a:lnSpc>
                <a:spcPct val="115000"/>
              </a:lnSpc>
              <a:buNone/>
            </a:pPr>
            <a:r>
              <a:rPr lang="en-US" sz="1050" dirty="0">
                <a:solidFill>
                  <a:srgbClr val="A5D6A7"/>
                </a:solidFill>
                <a:latin typeface="Consolas" pitchFamily="34" charset="0"/>
                <a:ea typeface="Consolas" pitchFamily="34" charset="-122"/>
                <a:cs typeface="Consolas" pitchFamily="34" charset="-120"/>
              </a:rPr>
              <a:t>    print("FFmpeg Error:", result.stderr)</a:t>
            </a:r>
            <a:endParaRPr lang="en-US" sz="1050" dirty="0"/>
          </a:p>
        </p:txBody>
      </p:sp>
      <p:sp>
        <p:nvSpPr>
          <p:cNvPr id="6" name="Text 4"/>
          <p:cNvSpPr/>
          <p:nvPr/>
        </p:nvSpPr>
        <p:spPr>
          <a:xfrm>
            <a:off x="548640" y="4343400"/>
            <a:ext cx="11064240" cy="1463040"/>
          </a:xfrm>
          <a:prstGeom prst="rect">
            <a:avLst/>
          </a:prstGeom>
          <a:noFill/>
          <a:ln/>
        </p:spPr>
        <p:txBody>
          <a:bodyPr wrap="square" lIns="0" tIns="0" rIns="0" bIns="0" rtlCol="0" anchor="t"/>
          <a:lstStyle/>
          <a:p>
            <a:pPr marL="177800" indent="-177800">
              <a:lnSpc>
                <a:spcPct val="104000"/>
              </a:lnSpc>
              <a:spcAft>
                <a:spcPts val="800"/>
              </a:spcAft>
              <a:buSzPct val="100000"/>
              <a:buChar char="■"/>
            </a:pPr>
            <a:r>
              <a:rPr lang="en-US" sz="1200" b="1" dirty="0">
                <a:solidFill>
                  <a:srgbClr val="1F2937"/>
                </a:solidFill>
                <a:latin typeface="Calibri" pitchFamily="34" charset="0"/>
                <a:ea typeface="Calibri" pitchFamily="34" charset="-122"/>
                <a:cs typeface="Calibri" pitchFamily="34" charset="-120"/>
              </a:rPr>
              <a:t>"-c:v copy" tells FFmpeg to copy the video stream unchanged (fast, no re-encoding, no quality loss) while swapping in the cleaned audio stream — a well-chosen, efficient design decision.</a:t>
            </a:r>
            <a:endParaRPr lang="en-US" sz="1200" dirty="0"/>
          </a:p>
          <a:p>
            <a:pPr marL="177800" indent="-177800">
              <a:lnSpc>
                <a:spcPct val="104000"/>
              </a:lnSpc>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subprocess.run() with capture_output lets the app check FFmpeg's exit code and surface errors instead of failing silently.</a:t>
            </a:r>
            <a:endParaRPr lang="en-US" sz="1200" dirty="0"/>
          </a:p>
        </p:txBody>
      </p:sp>
      <p:sp>
        <p:nvSpPr>
          <p:cNvPr id="7" name="Text 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FFB300"/>
                </a:solidFill>
                <a:latin typeface="Calibri" pitchFamily="34" charset="0"/>
                <a:ea typeface="Calibri" pitchFamily="34" charset="-122"/>
                <a:cs typeface="Calibri" pitchFamily="34" charset="-120"/>
              </a:rPr>
              <a:t>TESTING &amp; OBSERVED OUTPUT</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How the Tool Was Tested</a:t>
            </a:r>
            <a:endParaRPr lang="en-US" sz="3100" dirty="0"/>
          </a:p>
        </p:txBody>
      </p:sp>
      <p:sp>
        <p:nvSpPr>
          <p:cNvPr id="4" name="Shape 2"/>
          <p:cNvSpPr/>
          <p:nvPr/>
        </p:nvSpPr>
        <p:spPr>
          <a:xfrm>
            <a:off x="548640" y="1371600"/>
            <a:ext cx="11064240" cy="960120"/>
          </a:xfrm>
          <a:prstGeom prst="roundRect">
            <a:avLst>
              <a:gd name="adj" fmla="val 11429"/>
            </a:avLst>
          </a:prstGeom>
          <a:solidFill>
            <a:srgbClr val="FDF3E3"/>
          </a:solidFill>
          <a:ln/>
          <a:effectLst>
            <a:outerShdw sx="100000" sy="100000" kx="0" ky="0" algn="bl" rotWithShape="0" blurRad="101600" dist="25400" dir="5400000">
              <a:srgbClr val="94A3B8">
                <a:alpha val="28000"/>
              </a:srgbClr>
            </a:outerShdw>
          </a:effectLst>
        </p:spPr>
      </p:sp>
      <p:sp>
        <p:nvSpPr>
          <p:cNvPr id="5" name="Text 3"/>
          <p:cNvSpPr/>
          <p:nvPr/>
        </p:nvSpPr>
        <p:spPr>
          <a:xfrm>
            <a:off x="777240" y="1426464"/>
            <a:ext cx="10607040" cy="850392"/>
          </a:xfrm>
          <a:prstGeom prst="rect">
            <a:avLst/>
          </a:prstGeom>
          <a:noFill/>
          <a:ln/>
        </p:spPr>
        <p:txBody>
          <a:bodyPr wrap="square" lIns="0" tIns="0" rIns="0" bIns="0" rtlCol="0" anchor="ctr"/>
          <a:lstStyle/>
          <a:p>
            <a:pPr indent="0" marL="0">
              <a:buNone/>
            </a:pPr>
            <a:r>
              <a:rPr lang="en-US" sz="1350" b="1" dirty="0">
                <a:solidFill>
                  <a:srgbClr val="FFB300"/>
                </a:solidFill>
                <a:latin typeface="Calibri" pitchFamily="34" charset="0"/>
                <a:ea typeface="Calibri" pitchFamily="34" charset="-122"/>
                <a:cs typeface="Calibri" pitchFamily="34" charset="-120"/>
              </a:rPr>
              <a:t>Test approach:  </a:t>
            </a:r>
            <a:pPr indent="0" marL="0">
              <a:buNone/>
            </a:pPr>
            <a:r>
              <a:rPr lang="en-US" sz="1350" dirty="0">
                <a:solidFill>
                  <a:srgbClr val="1F2937"/>
                </a:solidFill>
                <a:latin typeface="Calibri" pitchFamily="34" charset="0"/>
                <a:ea typeface="Calibri" pitchFamily="34" charset="-122"/>
                <a:cs typeface="Calibri" pitchFamily="34" charset="-120"/>
              </a:rPr>
              <a:t>The application was tested by running it on sample video clips containing audible background noise (e.g. fan hum, room static, ambient hiss) and comparing the original vs cleaned audio by direct listening using the in-app Preview buttons.</a:t>
            </a:r>
            <a:endParaRPr lang="en-US" sz="1350" dirty="0"/>
          </a:p>
        </p:txBody>
      </p:sp>
      <p:sp>
        <p:nvSpPr>
          <p:cNvPr id="6" name="Shape 4"/>
          <p:cNvSpPr/>
          <p:nvPr/>
        </p:nvSpPr>
        <p:spPr>
          <a:xfrm>
            <a:off x="548640" y="2514600"/>
            <a:ext cx="11064240" cy="777240"/>
          </a:xfrm>
          <a:prstGeom prst="roundRect">
            <a:avLst>
              <a:gd name="adj" fmla="val 14118"/>
            </a:avLst>
          </a:prstGeom>
          <a:solidFill>
            <a:srgbClr val="F2F5F9"/>
          </a:solidFill>
          <a:ln/>
          <a:effectLst>
            <a:outerShdw sx="100000" sy="100000" kx="0" ky="0" algn="bl" rotWithShape="0" blurRad="101600" dist="25400" dir="5400000">
              <a:srgbClr val="94A3B8">
                <a:alpha val="28000"/>
              </a:srgbClr>
            </a:outerShdw>
          </a:effectLst>
        </p:spPr>
      </p:sp>
      <p:sp>
        <p:nvSpPr>
          <p:cNvPr id="7" name="Shape 5"/>
          <p:cNvSpPr/>
          <p:nvPr/>
        </p:nvSpPr>
        <p:spPr>
          <a:xfrm>
            <a:off x="548640" y="2514600"/>
            <a:ext cx="109728" cy="777240"/>
          </a:xfrm>
          <a:prstGeom prst="rect">
            <a:avLst/>
          </a:prstGeom>
          <a:solidFill>
            <a:srgbClr val="2E7D32"/>
          </a:solidFill>
          <a:ln/>
        </p:spPr>
      </p:sp>
      <p:sp>
        <p:nvSpPr>
          <p:cNvPr id="8" name="Text 6"/>
          <p:cNvSpPr/>
          <p:nvPr/>
        </p:nvSpPr>
        <p:spPr>
          <a:xfrm>
            <a:off x="822960" y="2587752"/>
            <a:ext cx="4754880" cy="310896"/>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Valid .mp4 with light background noise</a:t>
            </a:r>
            <a:endParaRPr lang="en-US" sz="1200" dirty="0"/>
          </a:p>
        </p:txBody>
      </p:sp>
      <p:sp>
        <p:nvSpPr>
          <p:cNvPr id="9" name="Text 7"/>
          <p:cNvSpPr/>
          <p:nvPr/>
        </p:nvSpPr>
        <p:spPr>
          <a:xfrm>
            <a:off x="822960" y="2916936"/>
            <a:ext cx="10515600" cy="32918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Cleaned successfully; noise audibly reduced, speech intact</a:t>
            </a:r>
            <a:endParaRPr lang="en-US" sz="1100" dirty="0"/>
          </a:p>
        </p:txBody>
      </p:sp>
      <p:sp>
        <p:nvSpPr>
          <p:cNvPr id="10" name="Shape 8"/>
          <p:cNvSpPr/>
          <p:nvPr/>
        </p:nvSpPr>
        <p:spPr>
          <a:xfrm>
            <a:off x="548640" y="3410712"/>
            <a:ext cx="11064240" cy="777240"/>
          </a:xfrm>
          <a:prstGeom prst="roundRect">
            <a:avLst>
              <a:gd name="adj" fmla="val 14118"/>
            </a:avLst>
          </a:prstGeom>
          <a:solidFill>
            <a:srgbClr val="F2F5F9"/>
          </a:solidFill>
          <a:ln/>
          <a:effectLst>
            <a:outerShdw sx="100000" sy="100000" kx="0" ky="0" algn="bl" rotWithShape="0" blurRad="101600" dist="25400" dir="5400000">
              <a:srgbClr val="94A3B8">
                <a:alpha val="28000"/>
              </a:srgbClr>
            </a:outerShdw>
          </a:effectLst>
        </p:spPr>
      </p:sp>
      <p:sp>
        <p:nvSpPr>
          <p:cNvPr id="11" name="Shape 9"/>
          <p:cNvSpPr/>
          <p:nvPr/>
        </p:nvSpPr>
        <p:spPr>
          <a:xfrm>
            <a:off x="548640" y="3410712"/>
            <a:ext cx="109728" cy="777240"/>
          </a:xfrm>
          <a:prstGeom prst="rect">
            <a:avLst/>
          </a:prstGeom>
          <a:solidFill>
            <a:srgbClr val="2E7D32"/>
          </a:solidFill>
          <a:ln/>
        </p:spPr>
      </p:sp>
      <p:sp>
        <p:nvSpPr>
          <p:cNvPr id="12" name="Text 10"/>
          <p:cNvSpPr/>
          <p:nvPr/>
        </p:nvSpPr>
        <p:spPr>
          <a:xfrm>
            <a:off x="822960" y="3483864"/>
            <a:ext cx="4754880" cy="310896"/>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Valid .mkv file</a:t>
            </a:r>
            <a:endParaRPr lang="en-US" sz="1200" dirty="0"/>
          </a:p>
        </p:txBody>
      </p:sp>
      <p:sp>
        <p:nvSpPr>
          <p:cNvPr id="13" name="Text 11"/>
          <p:cNvSpPr/>
          <p:nvPr/>
        </p:nvSpPr>
        <p:spPr>
          <a:xfrm>
            <a:off x="822960" y="3813048"/>
            <a:ext cx="10515600" cy="32918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Extraction and merge completed without error</a:t>
            </a:r>
            <a:endParaRPr lang="en-US" sz="1100" dirty="0"/>
          </a:p>
        </p:txBody>
      </p:sp>
      <p:sp>
        <p:nvSpPr>
          <p:cNvPr id="14" name="Shape 12"/>
          <p:cNvSpPr/>
          <p:nvPr/>
        </p:nvSpPr>
        <p:spPr>
          <a:xfrm>
            <a:off x="548640" y="4306824"/>
            <a:ext cx="11064240" cy="777240"/>
          </a:xfrm>
          <a:prstGeom prst="roundRect">
            <a:avLst>
              <a:gd name="adj" fmla="val 14118"/>
            </a:avLst>
          </a:prstGeom>
          <a:solidFill>
            <a:srgbClr val="F2F5F9"/>
          </a:solidFill>
          <a:ln/>
          <a:effectLst>
            <a:outerShdw sx="100000" sy="100000" kx="0" ky="0" algn="bl" rotWithShape="0" blurRad="101600" dist="25400" dir="5400000">
              <a:srgbClr val="94A3B8">
                <a:alpha val="28000"/>
              </a:srgbClr>
            </a:outerShdw>
          </a:effectLst>
        </p:spPr>
      </p:sp>
      <p:sp>
        <p:nvSpPr>
          <p:cNvPr id="15" name="Shape 13"/>
          <p:cNvSpPr/>
          <p:nvPr/>
        </p:nvSpPr>
        <p:spPr>
          <a:xfrm>
            <a:off x="548640" y="4306824"/>
            <a:ext cx="109728" cy="777240"/>
          </a:xfrm>
          <a:prstGeom prst="rect">
            <a:avLst/>
          </a:prstGeom>
          <a:solidFill>
            <a:srgbClr val="2E7D32"/>
          </a:solidFill>
          <a:ln/>
        </p:spPr>
      </p:sp>
      <p:sp>
        <p:nvSpPr>
          <p:cNvPr id="16" name="Text 14"/>
          <p:cNvSpPr/>
          <p:nvPr/>
        </p:nvSpPr>
        <p:spPr>
          <a:xfrm>
            <a:off x="822960" y="4379976"/>
            <a:ext cx="4754880" cy="310896"/>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No file selected, "Clean Audio" clicked</a:t>
            </a:r>
            <a:endParaRPr lang="en-US" sz="1200" dirty="0"/>
          </a:p>
        </p:txBody>
      </p:sp>
      <p:sp>
        <p:nvSpPr>
          <p:cNvPr id="17" name="Text 15"/>
          <p:cNvSpPr/>
          <p:nvPr/>
        </p:nvSpPr>
        <p:spPr>
          <a:xfrm>
            <a:off x="822960" y="4709160"/>
            <a:ext cx="10515600" cy="32918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Warning dialog shown, no crash</a:t>
            </a:r>
            <a:endParaRPr lang="en-US" sz="1100" dirty="0"/>
          </a:p>
        </p:txBody>
      </p:sp>
      <p:sp>
        <p:nvSpPr>
          <p:cNvPr id="18" name="Shape 16"/>
          <p:cNvSpPr/>
          <p:nvPr/>
        </p:nvSpPr>
        <p:spPr>
          <a:xfrm>
            <a:off x="548640" y="5202936"/>
            <a:ext cx="11064240" cy="777240"/>
          </a:xfrm>
          <a:prstGeom prst="roundRect">
            <a:avLst>
              <a:gd name="adj" fmla="val 14118"/>
            </a:avLst>
          </a:prstGeom>
          <a:solidFill>
            <a:srgbClr val="F2F5F9"/>
          </a:solidFill>
          <a:ln/>
          <a:effectLst>
            <a:outerShdw sx="100000" sy="100000" kx="0" ky="0" algn="bl" rotWithShape="0" blurRad="101600" dist="25400" dir="5400000">
              <a:srgbClr val="94A3B8">
                <a:alpha val="28000"/>
              </a:srgbClr>
            </a:outerShdw>
          </a:effectLst>
        </p:spPr>
      </p:sp>
      <p:sp>
        <p:nvSpPr>
          <p:cNvPr id="19" name="Shape 17"/>
          <p:cNvSpPr/>
          <p:nvPr/>
        </p:nvSpPr>
        <p:spPr>
          <a:xfrm>
            <a:off x="548640" y="5202936"/>
            <a:ext cx="109728" cy="777240"/>
          </a:xfrm>
          <a:prstGeom prst="rect">
            <a:avLst/>
          </a:prstGeom>
          <a:solidFill>
            <a:srgbClr val="F9A825"/>
          </a:solidFill>
          <a:ln/>
        </p:spPr>
      </p:sp>
      <p:sp>
        <p:nvSpPr>
          <p:cNvPr id="20" name="Text 18"/>
          <p:cNvSpPr/>
          <p:nvPr/>
        </p:nvSpPr>
        <p:spPr>
          <a:xfrm>
            <a:off x="822960" y="5276088"/>
            <a:ext cx="4754880" cy="310896"/>
          </a:xfrm>
          <a:prstGeom prst="rect">
            <a:avLst/>
          </a:prstGeom>
          <a:noFill/>
          <a:ln/>
        </p:spPr>
        <p:txBody>
          <a:bodyPr wrap="square" lIns="0" tIns="0" rIns="0" bIns="0" rtlCol="0" anchor="ctr"/>
          <a:lstStyle/>
          <a:p>
            <a:pPr indent="0" marL="0">
              <a:buNone/>
            </a:pPr>
            <a:r>
              <a:rPr lang="en-US" sz="1200" b="1" dirty="0">
                <a:solidFill>
                  <a:srgbClr val="F9A825"/>
                </a:solidFill>
                <a:latin typeface="Calibri" pitchFamily="34" charset="0"/>
                <a:ea typeface="Calibri" pitchFamily="34" charset="-122"/>
                <a:cs typeface="Calibri" pitchFamily="34" charset="-120"/>
              </a:rPr>
              <a:t>Very short clip (&lt; 5000 samples)</a:t>
            </a:r>
            <a:endParaRPr lang="en-US" sz="1200" dirty="0"/>
          </a:p>
        </p:txBody>
      </p:sp>
      <p:sp>
        <p:nvSpPr>
          <p:cNvPr id="21" name="Text 19"/>
          <p:cNvSpPr/>
          <p:nvPr/>
        </p:nvSpPr>
        <p:spPr>
          <a:xfrm>
            <a:off x="822960" y="5605272"/>
            <a:ext cx="10515600" cy="329184"/>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 Noise sample would exceed clip length — a known edge case (see Limitations)</a:t>
            </a:r>
            <a:endParaRPr lang="en-US" sz="1100" dirty="0"/>
          </a:p>
        </p:txBody>
      </p:sp>
      <p:sp>
        <p:nvSpPr>
          <p:cNvPr id="22" name="Text 20"/>
          <p:cNvSpPr/>
          <p:nvPr/>
        </p:nvSpPr>
        <p:spPr>
          <a:xfrm>
            <a:off x="548640" y="6126480"/>
            <a:ext cx="11064240" cy="457200"/>
          </a:xfrm>
          <a:prstGeom prst="rect">
            <a:avLst/>
          </a:prstGeom>
          <a:noFill/>
          <a:ln/>
        </p:spPr>
        <p:txBody>
          <a:bodyPr wrap="square" lIns="0" tIns="0" rIns="0" bIns="0" rtlCol="0" anchor="ctr"/>
          <a:lstStyle/>
          <a:p>
            <a:pPr algn="ctr" indent="0" marL="0">
              <a:buNone/>
            </a:pPr>
            <a:r>
              <a:rPr lang="en-US" sz="1050" i="1" dirty="0">
                <a:solidFill>
                  <a:srgbClr val="E53935"/>
                </a:solidFill>
                <a:latin typeface="Calibri" pitchFamily="34" charset="0"/>
                <a:ea typeface="Calibri" pitchFamily="34" charset="-122"/>
                <a:cs typeface="Calibri" pitchFamily="34" charset="-120"/>
              </a:rPr>
              <a:t>Note: no formal quantitative metric (SNR/PESQ) was measured — evaluation was qualitative (listening comparison). Add real numbers here if you measure them before submission.</a:t>
            </a:r>
            <a:endParaRPr lang="en-US" sz="1050" dirty="0"/>
          </a:p>
        </p:txBody>
      </p:sp>
      <p:sp>
        <p:nvSpPr>
          <p:cNvPr id="23" name="Text 21"/>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00897B"/>
                </a:solidFill>
                <a:latin typeface="Calibri" pitchFamily="34" charset="0"/>
                <a:ea typeface="Calibri" pitchFamily="34" charset="-122"/>
                <a:cs typeface="Calibri" pitchFamily="34" charset="-120"/>
              </a:rPr>
              <a:t>COMPARISON WITH EXISTING SOFTWARE</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How This Compares to Existing Tools</a:t>
            </a:r>
            <a:endParaRPr lang="en-US" sz="3100" dirty="0"/>
          </a:p>
        </p:txBody>
      </p:sp>
      <p:sp>
        <p:nvSpPr>
          <p:cNvPr id="4" name="Shape 2"/>
          <p:cNvSpPr/>
          <p:nvPr/>
        </p:nvSpPr>
        <p:spPr>
          <a:xfrm>
            <a:off x="548640" y="1371600"/>
            <a:ext cx="11064240" cy="4023360"/>
          </a:xfrm>
          <a:prstGeom prst="roundRect">
            <a:avLst>
              <a:gd name="adj" fmla="val 2727"/>
            </a:avLst>
          </a:prstGeom>
          <a:solidFill>
            <a:srgbClr val="F2F5F9"/>
          </a:solidFill>
          <a:ln/>
          <a:effectLst>
            <a:outerShdw sx="100000" sy="100000" kx="0" ky="0" algn="bl" rotWithShape="0" blurRad="101600" dist="25400" dir="5400000">
              <a:srgbClr val="94A3B8">
                <a:alpha val="28000"/>
              </a:srgbClr>
            </a:outerShdw>
          </a:effectLst>
        </p:spPr>
      </p:sp>
      <p:pic>
        <p:nvPicPr>
          <p:cNvPr id="5" name="Image 0" descr="/home/claude/img/comparison_table.png">    </p:cNvPr>
          <p:cNvPicPr>
            <a:picLocks noChangeAspect="1"/>
          </p:cNvPicPr>
          <p:nvPr/>
        </p:nvPicPr>
        <p:blipFill>
          <a:blip r:embed="rId1"/>
          <a:stretch>
            <a:fillRect/>
          </a:stretch>
        </p:blipFill>
        <p:spPr>
          <a:xfrm>
            <a:off x="1155450" y="1463040"/>
            <a:ext cx="9850621" cy="3840480"/>
          </a:xfrm>
          <a:prstGeom prst="rect">
            <a:avLst/>
          </a:prstGeom>
        </p:spPr>
      </p:pic>
      <p:sp>
        <p:nvSpPr>
          <p:cNvPr id="6" name="Text 3"/>
          <p:cNvSpPr/>
          <p:nvPr/>
        </p:nvSpPr>
        <p:spPr>
          <a:xfrm>
            <a:off x="548640" y="5413248"/>
            <a:ext cx="11064240" cy="292608"/>
          </a:xfrm>
          <a:prstGeom prst="rect">
            <a:avLst/>
          </a:prstGeom>
          <a:noFill/>
          <a:ln/>
        </p:spPr>
        <p:txBody>
          <a:bodyPr wrap="square" lIns="0" tIns="0" rIns="0" bIns="0" rtlCol="0" anchor="ctr"/>
          <a:lstStyle/>
          <a:p>
            <a:pPr algn="ctr" indent="0" marL="0">
              <a:buNone/>
            </a:pPr>
            <a:r>
              <a:rPr lang="en-US" sz="1100" i="1" dirty="0">
                <a:solidFill>
                  <a:srgbClr val="5F6B7A"/>
                </a:solidFill>
                <a:latin typeface="Calibri" pitchFamily="34" charset="0"/>
                <a:ea typeface="Calibri" pitchFamily="34" charset="-122"/>
                <a:cs typeface="Calibri" pitchFamily="34" charset="-120"/>
              </a:rPr>
              <a:t>Fig. 5 — Positioning against Audacity, Adobe Podcast and neural denoisers</a:t>
            </a:r>
            <a:endParaRPr lang="en-US" sz="1100" dirty="0"/>
          </a:p>
        </p:txBody>
      </p:sp>
      <p:sp>
        <p:nvSpPr>
          <p:cNvPr id="7" name="Text 4"/>
          <p:cNvSpPr/>
          <p:nvPr/>
        </p:nvSpPr>
        <p:spPr>
          <a:xfrm>
            <a:off x="548640" y="5715000"/>
            <a:ext cx="11064240" cy="777240"/>
          </a:xfrm>
          <a:prstGeom prst="rect">
            <a:avLst/>
          </a:prstGeom>
          <a:noFill/>
          <a:ln/>
        </p:spPr>
        <p:txBody>
          <a:bodyPr wrap="square" lIns="0" tIns="0" rIns="0" bIns="0" rtlCol="0" anchor="t"/>
          <a:lstStyle/>
          <a:p>
            <a:pPr marL="177800" indent="-177800">
              <a:lnSpc>
                <a:spcPct val="104000"/>
              </a:lnSpc>
              <a:spcAft>
                <a:spcPts val="300"/>
              </a:spcAft>
              <a:buSzPct val="100000"/>
              <a:buChar char="■"/>
            </a:pPr>
            <a:r>
              <a:rPr lang="en-US" sz="1100" b="1" dirty="0">
                <a:solidFill>
                  <a:srgbClr val="1F2937"/>
                </a:solidFill>
                <a:latin typeface="Calibri" pitchFamily="34" charset="0"/>
                <a:ea typeface="Calibri" pitchFamily="34" charset="-122"/>
                <a:cs typeface="Calibri" pitchFamily="34" charset="-120"/>
              </a:rPr>
              <a:t>Honest positioning: this is a learning-oriented, script-based application built to understand and apply Python audio processing — not a claim to out-perform mature, professionally-engineered tools.</a:t>
            </a:r>
            <a:endParaRPr lang="en-US" sz="1100" dirty="0"/>
          </a:p>
        </p:txBody>
      </p:sp>
      <p:sp>
        <p:nvSpPr>
          <p:cNvPr id="8" name="Text 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C62828"/>
                </a:solidFill>
                <a:latin typeface="Calibri" pitchFamily="34" charset="0"/>
                <a:ea typeface="Calibri" pitchFamily="34" charset="-122"/>
                <a:cs typeface="Calibri" pitchFamily="34" charset="-120"/>
              </a:rPr>
              <a:t>LIMITATIONS</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Honest Limitations of the Current Implementation</a:t>
            </a:r>
            <a:endParaRPr lang="en-US" sz="3100" dirty="0"/>
          </a:p>
        </p:txBody>
      </p:sp>
      <p:sp>
        <p:nvSpPr>
          <p:cNvPr id="4" name="Shape 2"/>
          <p:cNvSpPr/>
          <p:nvPr/>
        </p:nvSpPr>
        <p:spPr>
          <a:xfrm>
            <a:off x="548640" y="1463040"/>
            <a:ext cx="11064240" cy="786384"/>
          </a:xfrm>
          <a:prstGeom prst="roundRect">
            <a:avLst>
              <a:gd name="adj" fmla="val 13953"/>
            </a:avLst>
          </a:prstGeom>
          <a:solidFill>
            <a:srgbClr val="F2F5F9"/>
          </a:solidFill>
          <a:ln/>
          <a:effectLst>
            <a:outerShdw sx="100000" sy="100000" kx="0" ky="0" algn="bl" rotWithShape="0" blurRad="101600" dist="25400" dir="5400000">
              <a:srgbClr val="94A3B8">
                <a:alpha val="28000"/>
              </a:srgbClr>
            </a:outerShdw>
          </a:effectLst>
        </p:spPr>
      </p:sp>
      <p:sp>
        <p:nvSpPr>
          <p:cNvPr id="5" name="Shape 3"/>
          <p:cNvSpPr/>
          <p:nvPr/>
        </p:nvSpPr>
        <p:spPr>
          <a:xfrm>
            <a:off x="548640" y="1463040"/>
            <a:ext cx="109728" cy="786384"/>
          </a:xfrm>
          <a:prstGeom prst="rect">
            <a:avLst/>
          </a:prstGeom>
          <a:solidFill>
            <a:srgbClr val="E53935"/>
          </a:solidFill>
          <a:ln/>
        </p:spPr>
      </p:sp>
      <p:sp>
        <p:nvSpPr>
          <p:cNvPr id="6" name="Text 4"/>
          <p:cNvSpPr/>
          <p:nvPr/>
        </p:nvSpPr>
        <p:spPr>
          <a:xfrm>
            <a:off x="822960" y="1536192"/>
            <a:ext cx="4114800" cy="292608"/>
          </a:xfrm>
          <a:prstGeom prst="rect">
            <a:avLst/>
          </a:prstGeom>
          <a:noFill/>
          <a:ln/>
        </p:spPr>
        <p:txBody>
          <a:bodyPr wrap="square" lIns="0" tIns="0" rIns="0" bIns="0" rtlCol="0" anchor="ctr"/>
          <a:lstStyle/>
          <a:p>
            <a:pPr indent="0" marL="0">
              <a:buNone/>
            </a:pPr>
            <a:r>
              <a:rPr lang="en-US" sz="1200" b="1" dirty="0">
                <a:solidFill>
                  <a:srgbClr val="E53935"/>
                </a:solidFill>
                <a:latin typeface="Calibri" pitchFamily="34" charset="0"/>
                <a:ea typeface="Calibri" pitchFamily="34" charset="-122"/>
                <a:cs typeface="Calibri" pitchFamily="34" charset="-120"/>
              </a:rPr>
              <a:t>Fixed noise-sample assumption</a:t>
            </a:r>
            <a:endParaRPr lang="en-US" sz="1200" dirty="0"/>
          </a:p>
        </p:txBody>
      </p:sp>
      <p:sp>
        <p:nvSpPr>
          <p:cNvPr id="7" name="Text 5"/>
          <p:cNvSpPr/>
          <p:nvPr/>
        </p:nvSpPr>
        <p:spPr>
          <a:xfrm>
            <a:off x="822960" y="1847088"/>
            <a:ext cx="10515600" cy="36576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noise_sample = data[:5000] assumes the clip's opening is representative noise — fails if the clip starts with speech/music</a:t>
            </a:r>
            <a:endParaRPr lang="en-US" sz="1050" dirty="0"/>
          </a:p>
        </p:txBody>
      </p:sp>
      <p:sp>
        <p:nvSpPr>
          <p:cNvPr id="8" name="Shape 6"/>
          <p:cNvSpPr/>
          <p:nvPr/>
        </p:nvSpPr>
        <p:spPr>
          <a:xfrm>
            <a:off x="548640" y="2377440"/>
            <a:ext cx="11064240" cy="786384"/>
          </a:xfrm>
          <a:prstGeom prst="roundRect">
            <a:avLst>
              <a:gd name="adj" fmla="val 13953"/>
            </a:avLst>
          </a:prstGeom>
          <a:solidFill>
            <a:srgbClr val="F2F5F9"/>
          </a:solidFill>
          <a:ln/>
          <a:effectLst>
            <a:outerShdw sx="100000" sy="100000" kx="0" ky="0" algn="bl" rotWithShape="0" blurRad="101600" dist="25400" dir="5400000">
              <a:srgbClr val="94A3B8">
                <a:alpha val="28000"/>
              </a:srgbClr>
            </a:outerShdw>
          </a:effectLst>
        </p:spPr>
      </p:sp>
      <p:sp>
        <p:nvSpPr>
          <p:cNvPr id="9" name="Shape 7"/>
          <p:cNvSpPr/>
          <p:nvPr/>
        </p:nvSpPr>
        <p:spPr>
          <a:xfrm>
            <a:off x="548640" y="2377440"/>
            <a:ext cx="109728" cy="786384"/>
          </a:xfrm>
          <a:prstGeom prst="rect">
            <a:avLst/>
          </a:prstGeom>
          <a:solidFill>
            <a:srgbClr val="F9A825"/>
          </a:solidFill>
          <a:ln/>
        </p:spPr>
      </p:sp>
      <p:sp>
        <p:nvSpPr>
          <p:cNvPr id="10" name="Text 8"/>
          <p:cNvSpPr/>
          <p:nvPr/>
        </p:nvSpPr>
        <p:spPr>
          <a:xfrm>
            <a:off x="822960" y="2450592"/>
            <a:ext cx="4114800" cy="292608"/>
          </a:xfrm>
          <a:prstGeom prst="rect">
            <a:avLst/>
          </a:prstGeom>
          <a:noFill/>
          <a:ln/>
        </p:spPr>
        <p:txBody>
          <a:bodyPr wrap="square" lIns="0" tIns="0" rIns="0" bIns="0" rtlCol="0" anchor="ctr"/>
          <a:lstStyle/>
          <a:p>
            <a:pPr indent="0" marL="0">
              <a:buNone/>
            </a:pPr>
            <a:r>
              <a:rPr lang="en-US" sz="1200" b="1" dirty="0">
                <a:solidFill>
                  <a:srgbClr val="F9A825"/>
                </a:solidFill>
                <a:latin typeface="Calibri" pitchFamily="34" charset="0"/>
                <a:ea typeface="Calibri" pitchFamily="34" charset="-122"/>
                <a:cs typeface="Calibri" pitchFamily="34" charset="-120"/>
              </a:rPr>
              <a:t>Hard-coded FFmpeg path</a:t>
            </a:r>
            <a:endParaRPr lang="en-US" sz="1200" dirty="0"/>
          </a:p>
        </p:txBody>
      </p:sp>
      <p:sp>
        <p:nvSpPr>
          <p:cNvPr id="11" name="Text 9"/>
          <p:cNvSpPr/>
          <p:nvPr/>
        </p:nvSpPr>
        <p:spPr>
          <a:xfrm>
            <a:off x="822960" y="2761488"/>
            <a:ext cx="10515600" cy="36576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ffmpeg_path = r"C:\ffmpeg\bin\ffmpeg.exe" only works on that exact Windows setup — not portable</a:t>
            </a:r>
            <a:endParaRPr lang="en-US" sz="1050" dirty="0"/>
          </a:p>
        </p:txBody>
      </p:sp>
      <p:sp>
        <p:nvSpPr>
          <p:cNvPr id="12" name="Shape 10"/>
          <p:cNvSpPr/>
          <p:nvPr/>
        </p:nvSpPr>
        <p:spPr>
          <a:xfrm>
            <a:off x="548640" y="3291840"/>
            <a:ext cx="11064240" cy="786384"/>
          </a:xfrm>
          <a:prstGeom prst="roundRect">
            <a:avLst>
              <a:gd name="adj" fmla="val 13953"/>
            </a:avLst>
          </a:prstGeom>
          <a:solidFill>
            <a:srgbClr val="F2F5F9"/>
          </a:solidFill>
          <a:ln/>
          <a:effectLst>
            <a:outerShdw sx="100000" sy="100000" kx="0" ky="0" algn="bl" rotWithShape="0" blurRad="101600" dist="25400" dir="5400000">
              <a:srgbClr val="94A3B8">
                <a:alpha val="28000"/>
              </a:srgbClr>
            </a:outerShdw>
          </a:effectLst>
        </p:spPr>
      </p:sp>
      <p:sp>
        <p:nvSpPr>
          <p:cNvPr id="13" name="Shape 11"/>
          <p:cNvSpPr/>
          <p:nvPr/>
        </p:nvSpPr>
        <p:spPr>
          <a:xfrm>
            <a:off x="548640" y="3291840"/>
            <a:ext cx="109728" cy="786384"/>
          </a:xfrm>
          <a:prstGeom prst="rect">
            <a:avLst/>
          </a:prstGeom>
          <a:solidFill>
            <a:srgbClr val="1E88E5"/>
          </a:solidFill>
          <a:ln/>
        </p:spPr>
      </p:sp>
      <p:sp>
        <p:nvSpPr>
          <p:cNvPr id="14" name="Text 12"/>
          <p:cNvSpPr/>
          <p:nvPr/>
        </p:nvSpPr>
        <p:spPr>
          <a:xfrm>
            <a:off x="822960" y="3364992"/>
            <a:ext cx="4114800" cy="292608"/>
          </a:xfrm>
          <a:prstGeom prst="rect">
            <a:avLst/>
          </a:prstGeom>
          <a:noFill/>
          <a:ln/>
        </p:spPr>
        <p:txBody>
          <a:bodyPr wrap="square" lIns="0" tIns="0" rIns="0" bIns="0" rtlCol="0" anchor="ctr"/>
          <a:lstStyle/>
          <a:p>
            <a:pPr indent="0" marL="0">
              <a:buNone/>
            </a:pPr>
            <a:r>
              <a:rPr lang="en-US" sz="1200" b="1" dirty="0">
                <a:solidFill>
                  <a:srgbClr val="1E88E5"/>
                </a:solidFill>
                <a:latin typeface="Calibri" pitchFamily="34" charset="0"/>
                <a:ea typeface="Calibri" pitchFamily="34" charset="-122"/>
                <a:cs typeface="Calibri" pitchFamily="34" charset="-120"/>
              </a:rPr>
              <a:t>No quantitative evaluation</a:t>
            </a:r>
            <a:endParaRPr lang="en-US" sz="1200" dirty="0"/>
          </a:p>
        </p:txBody>
      </p:sp>
      <p:sp>
        <p:nvSpPr>
          <p:cNvPr id="15" name="Text 13"/>
          <p:cNvSpPr/>
          <p:nvPr/>
        </p:nvSpPr>
        <p:spPr>
          <a:xfrm>
            <a:off x="822960" y="3675888"/>
            <a:ext cx="10515600" cy="36576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Testing was by ear, not by measured SNR/PESQ — no objective quality benchmark yet</a:t>
            </a:r>
            <a:endParaRPr lang="en-US" sz="1050" dirty="0"/>
          </a:p>
        </p:txBody>
      </p:sp>
      <p:sp>
        <p:nvSpPr>
          <p:cNvPr id="16" name="Shape 14"/>
          <p:cNvSpPr/>
          <p:nvPr/>
        </p:nvSpPr>
        <p:spPr>
          <a:xfrm>
            <a:off x="548640" y="4206240"/>
            <a:ext cx="11064240" cy="786384"/>
          </a:xfrm>
          <a:prstGeom prst="roundRect">
            <a:avLst>
              <a:gd name="adj" fmla="val 13953"/>
            </a:avLst>
          </a:prstGeom>
          <a:solidFill>
            <a:srgbClr val="F2F5F9"/>
          </a:solidFill>
          <a:ln/>
          <a:effectLst>
            <a:outerShdw sx="100000" sy="100000" kx="0" ky="0" algn="bl" rotWithShape="0" blurRad="101600" dist="25400" dir="5400000">
              <a:srgbClr val="94A3B8">
                <a:alpha val="28000"/>
              </a:srgbClr>
            </a:outerShdw>
          </a:effectLst>
        </p:spPr>
      </p:sp>
      <p:sp>
        <p:nvSpPr>
          <p:cNvPr id="17" name="Shape 15"/>
          <p:cNvSpPr/>
          <p:nvPr/>
        </p:nvSpPr>
        <p:spPr>
          <a:xfrm>
            <a:off x="548640" y="4206240"/>
            <a:ext cx="109728" cy="786384"/>
          </a:xfrm>
          <a:prstGeom prst="rect">
            <a:avLst/>
          </a:prstGeom>
          <a:solidFill>
            <a:srgbClr val="5E35B1"/>
          </a:solidFill>
          <a:ln/>
        </p:spPr>
      </p:sp>
      <p:sp>
        <p:nvSpPr>
          <p:cNvPr id="18" name="Text 16"/>
          <p:cNvSpPr/>
          <p:nvPr/>
        </p:nvSpPr>
        <p:spPr>
          <a:xfrm>
            <a:off x="822960" y="4279392"/>
            <a:ext cx="4114800" cy="292608"/>
          </a:xfrm>
          <a:prstGeom prst="rect">
            <a:avLst/>
          </a:prstGeom>
          <a:noFill/>
          <a:ln/>
        </p:spPr>
        <p:txBody>
          <a:bodyPr wrap="square" lIns="0" tIns="0" rIns="0" bIns="0" rtlCol="0" anchor="ctr"/>
          <a:lstStyle/>
          <a:p>
            <a:pPr indent="0" marL="0">
              <a:buNone/>
            </a:pPr>
            <a:r>
              <a:rPr lang="en-US" sz="1200" b="1" dirty="0">
                <a:solidFill>
                  <a:srgbClr val="5E35B1"/>
                </a:solidFill>
                <a:latin typeface="Calibri" pitchFamily="34" charset="0"/>
                <a:ea typeface="Calibri" pitchFamily="34" charset="-122"/>
                <a:cs typeface="Calibri" pitchFamily="34" charset="-120"/>
              </a:rPr>
              <a:t>Single-file, synchronous processing</a:t>
            </a:r>
            <a:endParaRPr lang="en-US" sz="1200" dirty="0"/>
          </a:p>
        </p:txBody>
      </p:sp>
      <p:sp>
        <p:nvSpPr>
          <p:cNvPr id="19" name="Text 17"/>
          <p:cNvSpPr/>
          <p:nvPr/>
        </p:nvSpPr>
        <p:spPr>
          <a:xfrm>
            <a:off x="822960" y="4590288"/>
            <a:ext cx="10515600" cy="36576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One video at a time; the GUI blocks during processing (root.update_idletasks() mitigates this partially)</a:t>
            </a:r>
            <a:endParaRPr lang="en-US" sz="1050" dirty="0"/>
          </a:p>
        </p:txBody>
      </p:sp>
      <p:sp>
        <p:nvSpPr>
          <p:cNvPr id="20" name="Shape 18"/>
          <p:cNvSpPr/>
          <p:nvPr/>
        </p:nvSpPr>
        <p:spPr>
          <a:xfrm>
            <a:off x="548640" y="5120640"/>
            <a:ext cx="11064240" cy="786384"/>
          </a:xfrm>
          <a:prstGeom prst="roundRect">
            <a:avLst>
              <a:gd name="adj" fmla="val 13953"/>
            </a:avLst>
          </a:prstGeom>
          <a:solidFill>
            <a:srgbClr val="F2F5F9"/>
          </a:solidFill>
          <a:ln/>
          <a:effectLst>
            <a:outerShdw sx="100000" sy="100000" kx="0" ky="0" algn="bl" rotWithShape="0" blurRad="101600" dist="25400" dir="5400000">
              <a:srgbClr val="94A3B8">
                <a:alpha val="28000"/>
              </a:srgbClr>
            </a:outerShdw>
          </a:effectLst>
        </p:spPr>
      </p:sp>
      <p:sp>
        <p:nvSpPr>
          <p:cNvPr id="21" name="Shape 19"/>
          <p:cNvSpPr/>
          <p:nvPr/>
        </p:nvSpPr>
        <p:spPr>
          <a:xfrm>
            <a:off x="548640" y="5120640"/>
            <a:ext cx="109728" cy="786384"/>
          </a:xfrm>
          <a:prstGeom prst="rect">
            <a:avLst/>
          </a:prstGeom>
          <a:solidFill>
            <a:srgbClr val="2E7D32"/>
          </a:solidFill>
          <a:ln/>
        </p:spPr>
      </p:sp>
      <p:sp>
        <p:nvSpPr>
          <p:cNvPr id="22" name="Text 20"/>
          <p:cNvSpPr/>
          <p:nvPr/>
        </p:nvSpPr>
        <p:spPr>
          <a:xfrm>
            <a:off x="822960" y="5193792"/>
            <a:ext cx="4114800" cy="292608"/>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No format validation beyond extension</a:t>
            </a:r>
            <a:endParaRPr lang="en-US" sz="1200" dirty="0"/>
          </a:p>
        </p:txBody>
      </p:sp>
      <p:sp>
        <p:nvSpPr>
          <p:cNvPr id="23" name="Text 21"/>
          <p:cNvSpPr/>
          <p:nvPr/>
        </p:nvSpPr>
        <p:spPr>
          <a:xfrm>
            <a:off x="822960" y="5504688"/>
            <a:ext cx="10515600" cy="36576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corrupted or unsupported codec inside a valid-looking .mp4 could still fail unexpectedly</a:t>
            </a:r>
            <a:endParaRPr lang="en-US" sz="1050" dirty="0"/>
          </a:p>
        </p:txBody>
      </p:sp>
      <p:sp>
        <p:nvSpPr>
          <p:cNvPr id="24" name="Text 22"/>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2E7D32"/>
                </a:solidFill>
                <a:latin typeface="Calibri" pitchFamily="34" charset="0"/>
                <a:ea typeface="Calibri" pitchFamily="34" charset="-122"/>
                <a:cs typeface="Calibri" pitchFamily="34" charset="-120"/>
              </a:rPr>
              <a:t>FUTURE SCOPE</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Future Enhancements</a:t>
            </a:r>
            <a:endParaRPr lang="en-US" sz="3100" dirty="0"/>
          </a:p>
        </p:txBody>
      </p:sp>
      <p:sp>
        <p:nvSpPr>
          <p:cNvPr id="4" name="Shape 2"/>
          <p:cNvSpPr/>
          <p:nvPr/>
        </p:nvSpPr>
        <p:spPr>
          <a:xfrm>
            <a:off x="548640" y="1508760"/>
            <a:ext cx="3566160" cy="1783080"/>
          </a:xfrm>
          <a:prstGeom prst="roundRect">
            <a:avLst>
              <a:gd name="adj" fmla="val 6154"/>
            </a:avLst>
          </a:prstGeom>
          <a:solidFill>
            <a:srgbClr val="F2F5F9"/>
          </a:solidFill>
          <a:ln/>
          <a:effectLst>
            <a:outerShdw sx="100000" sy="100000" kx="0" ky="0" algn="bl" rotWithShape="0" blurRad="101600" dist="25400" dir="5400000">
              <a:srgbClr val="94A3B8">
                <a:alpha val="28000"/>
              </a:srgbClr>
            </a:outerShdw>
          </a:effectLst>
        </p:spPr>
      </p:sp>
      <p:sp>
        <p:nvSpPr>
          <p:cNvPr id="5" name="Shape 3"/>
          <p:cNvSpPr/>
          <p:nvPr/>
        </p:nvSpPr>
        <p:spPr>
          <a:xfrm>
            <a:off x="548640" y="1508760"/>
            <a:ext cx="3566160" cy="402336"/>
          </a:xfrm>
          <a:prstGeom prst="rect">
            <a:avLst/>
          </a:prstGeom>
          <a:solidFill>
            <a:srgbClr val="E53935"/>
          </a:solidFill>
          <a:ln/>
        </p:spPr>
      </p:sp>
      <p:sp>
        <p:nvSpPr>
          <p:cNvPr id="6" name="Text 4"/>
          <p:cNvSpPr/>
          <p:nvPr/>
        </p:nvSpPr>
        <p:spPr>
          <a:xfrm>
            <a:off x="548640" y="1508760"/>
            <a:ext cx="3566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Adaptive noise detection</a:t>
            </a:r>
            <a:endParaRPr lang="en-US" sz="1200" dirty="0"/>
          </a:p>
        </p:txBody>
      </p:sp>
      <p:sp>
        <p:nvSpPr>
          <p:cNvPr id="7" name="Text 5"/>
          <p:cNvSpPr/>
          <p:nvPr/>
        </p:nvSpPr>
        <p:spPr>
          <a:xfrm>
            <a:off x="731520" y="2057400"/>
            <a:ext cx="3200400" cy="11430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detect the noise segment automatically (e.g. via energy/VAD) instead of a fixed first-5000-samples assumption</a:t>
            </a:r>
            <a:endParaRPr lang="en-US" sz="1050" dirty="0"/>
          </a:p>
        </p:txBody>
      </p:sp>
      <p:sp>
        <p:nvSpPr>
          <p:cNvPr id="8" name="Shape 6"/>
          <p:cNvSpPr/>
          <p:nvPr/>
        </p:nvSpPr>
        <p:spPr>
          <a:xfrm>
            <a:off x="4343400" y="1508760"/>
            <a:ext cx="3566160" cy="1783080"/>
          </a:xfrm>
          <a:prstGeom prst="roundRect">
            <a:avLst>
              <a:gd name="adj" fmla="val 6154"/>
            </a:avLst>
          </a:prstGeom>
          <a:solidFill>
            <a:srgbClr val="F2F5F9"/>
          </a:solidFill>
          <a:ln/>
          <a:effectLst>
            <a:outerShdw sx="100000" sy="100000" kx="0" ky="0" algn="bl" rotWithShape="0" blurRad="101600" dist="25400" dir="5400000">
              <a:srgbClr val="94A3B8">
                <a:alpha val="28000"/>
              </a:srgbClr>
            </a:outerShdw>
          </a:effectLst>
        </p:spPr>
      </p:sp>
      <p:sp>
        <p:nvSpPr>
          <p:cNvPr id="9" name="Shape 7"/>
          <p:cNvSpPr/>
          <p:nvPr/>
        </p:nvSpPr>
        <p:spPr>
          <a:xfrm>
            <a:off x="4343400" y="1508760"/>
            <a:ext cx="3566160" cy="402336"/>
          </a:xfrm>
          <a:prstGeom prst="rect">
            <a:avLst/>
          </a:prstGeom>
          <a:solidFill>
            <a:srgbClr val="1E88E5"/>
          </a:solidFill>
          <a:ln/>
        </p:spPr>
      </p:sp>
      <p:sp>
        <p:nvSpPr>
          <p:cNvPr id="10" name="Text 8"/>
          <p:cNvSpPr/>
          <p:nvPr/>
        </p:nvSpPr>
        <p:spPr>
          <a:xfrm>
            <a:off x="4343400" y="1508760"/>
            <a:ext cx="3566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Cross-platform FFmpeg handling</a:t>
            </a:r>
            <a:endParaRPr lang="en-US" sz="1200" dirty="0"/>
          </a:p>
        </p:txBody>
      </p:sp>
      <p:sp>
        <p:nvSpPr>
          <p:cNvPr id="11" name="Text 9"/>
          <p:cNvSpPr/>
          <p:nvPr/>
        </p:nvSpPr>
        <p:spPr>
          <a:xfrm>
            <a:off x="4526280" y="2057400"/>
            <a:ext cx="3200400" cy="11430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auto-detect FFmpeg path or bundle a static binary for portability</a:t>
            </a:r>
            <a:endParaRPr lang="en-US" sz="1050" dirty="0"/>
          </a:p>
        </p:txBody>
      </p:sp>
      <p:sp>
        <p:nvSpPr>
          <p:cNvPr id="12" name="Shape 10"/>
          <p:cNvSpPr/>
          <p:nvPr/>
        </p:nvSpPr>
        <p:spPr>
          <a:xfrm>
            <a:off x="8138160" y="1508760"/>
            <a:ext cx="3566160" cy="1783080"/>
          </a:xfrm>
          <a:prstGeom prst="roundRect">
            <a:avLst>
              <a:gd name="adj" fmla="val 6154"/>
            </a:avLst>
          </a:prstGeom>
          <a:solidFill>
            <a:srgbClr val="F2F5F9"/>
          </a:solidFill>
          <a:ln/>
          <a:effectLst>
            <a:outerShdw sx="100000" sy="100000" kx="0" ky="0" algn="bl" rotWithShape="0" blurRad="101600" dist="25400" dir="5400000">
              <a:srgbClr val="94A3B8">
                <a:alpha val="28000"/>
              </a:srgbClr>
            </a:outerShdw>
          </a:effectLst>
        </p:spPr>
      </p:sp>
      <p:sp>
        <p:nvSpPr>
          <p:cNvPr id="13" name="Shape 11"/>
          <p:cNvSpPr/>
          <p:nvPr/>
        </p:nvSpPr>
        <p:spPr>
          <a:xfrm>
            <a:off x="8138160" y="1508760"/>
            <a:ext cx="3566160" cy="402336"/>
          </a:xfrm>
          <a:prstGeom prst="rect">
            <a:avLst/>
          </a:prstGeom>
          <a:solidFill>
            <a:srgbClr val="00897B"/>
          </a:solidFill>
          <a:ln/>
        </p:spPr>
      </p:sp>
      <p:sp>
        <p:nvSpPr>
          <p:cNvPr id="14" name="Text 12"/>
          <p:cNvSpPr/>
          <p:nvPr/>
        </p:nvSpPr>
        <p:spPr>
          <a:xfrm>
            <a:off x="8138160" y="1508760"/>
            <a:ext cx="3566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evaluation</a:t>
            </a:r>
            <a:endParaRPr lang="en-US" sz="1200" dirty="0"/>
          </a:p>
        </p:txBody>
      </p:sp>
      <p:sp>
        <p:nvSpPr>
          <p:cNvPr id="15" name="Text 13"/>
          <p:cNvSpPr/>
          <p:nvPr/>
        </p:nvSpPr>
        <p:spPr>
          <a:xfrm>
            <a:off x="8321040" y="2057400"/>
            <a:ext cx="3200400" cy="11430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add SNR/PESQ measurement to objectively benchmark improvement</a:t>
            </a:r>
            <a:endParaRPr lang="en-US" sz="1050" dirty="0"/>
          </a:p>
        </p:txBody>
      </p:sp>
      <p:sp>
        <p:nvSpPr>
          <p:cNvPr id="16" name="Shape 14"/>
          <p:cNvSpPr/>
          <p:nvPr/>
        </p:nvSpPr>
        <p:spPr>
          <a:xfrm>
            <a:off x="548640" y="3474720"/>
            <a:ext cx="3566160" cy="1783080"/>
          </a:xfrm>
          <a:prstGeom prst="roundRect">
            <a:avLst>
              <a:gd name="adj" fmla="val 6154"/>
            </a:avLst>
          </a:prstGeom>
          <a:solidFill>
            <a:srgbClr val="F2F5F9"/>
          </a:solidFill>
          <a:ln/>
          <a:effectLst>
            <a:outerShdw sx="100000" sy="100000" kx="0" ky="0" algn="bl" rotWithShape="0" blurRad="101600" dist="25400" dir="5400000">
              <a:srgbClr val="94A3B8">
                <a:alpha val="28000"/>
              </a:srgbClr>
            </a:outerShdw>
          </a:effectLst>
        </p:spPr>
      </p:sp>
      <p:sp>
        <p:nvSpPr>
          <p:cNvPr id="17" name="Shape 15"/>
          <p:cNvSpPr/>
          <p:nvPr/>
        </p:nvSpPr>
        <p:spPr>
          <a:xfrm>
            <a:off x="548640" y="3474720"/>
            <a:ext cx="3566160" cy="402336"/>
          </a:xfrm>
          <a:prstGeom prst="rect">
            <a:avLst/>
          </a:prstGeom>
          <a:solidFill>
            <a:srgbClr val="2E7D32"/>
          </a:solidFill>
          <a:ln/>
        </p:spPr>
      </p:sp>
      <p:sp>
        <p:nvSpPr>
          <p:cNvPr id="18" name="Text 16"/>
          <p:cNvSpPr/>
          <p:nvPr/>
        </p:nvSpPr>
        <p:spPr>
          <a:xfrm>
            <a:off x="548640" y="3474720"/>
            <a:ext cx="3566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Batch processing</a:t>
            </a:r>
            <a:endParaRPr lang="en-US" sz="1200" dirty="0"/>
          </a:p>
        </p:txBody>
      </p:sp>
      <p:sp>
        <p:nvSpPr>
          <p:cNvPr id="19" name="Text 17"/>
          <p:cNvSpPr/>
          <p:nvPr/>
        </p:nvSpPr>
        <p:spPr>
          <a:xfrm>
            <a:off x="731520" y="4023360"/>
            <a:ext cx="3200400" cy="11430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clean multiple videos in one run, with a queue and per-file progress</a:t>
            </a:r>
            <a:endParaRPr lang="en-US" sz="1050" dirty="0"/>
          </a:p>
        </p:txBody>
      </p:sp>
      <p:sp>
        <p:nvSpPr>
          <p:cNvPr id="20" name="Shape 18"/>
          <p:cNvSpPr/>
          <p:nvPr/>
        </p:nvSpPr>
        <p:spPr>
          <a:xfrm>
            <a:off x="4343400" y="3474720"/>
            <a:ext cx="3566160" cy="1783080"/>
          </a:xfrm>
          <a:prstGeom prst="roundRect">
            <a:avLst>
              <a:gd name="adj" fmla="val 6154"/>
            </a:avLst>
          </a:prstGeom>
          <a:solidFill>
            <a:srgbClr val="F2F5F9"/>
          </a:solidFill>
          <a:ln/>
          <a:effectLst>
            <a:outerShdw sx="100000" sy="100000" kx="0" ky="0" algn="bl" rotWithShape="0" blurRad="101600" dist="25400" dir="5400000">
              <a:srgbClr val="94A3B8">
                <a:alpha val="28000"/>
              </a:srgbClr>
            </a:outerShdw>
          </a:effectLst>
        </p:spPr>
      </p:sp>
      <p:sp>
        <p:nvSpPr>
          <p:cNvPr id="21" name="Shape 19"/>
          <p:cNvSpPr/>
          <p:nvPr/>
        </p:nvSpPr>
        <p:spPr>
          <a:xfrm>
            <a:off x="4343400" y="3474720"/>
            <a:ext cx="3566160" cy="402336"/>
          </a:xfrm>
          <a:prstGeom prst="rect">
            <a:avLst/>
          </a:prstGeom>
          <a:solidFill>
            <a:srgbClr val="5E35B1"/>
          </a:solidFill>
          <a:ln/>
        </p:spPr>
      </p:sp>
      <p:sp>
        <p:nvSpPr>
          <p:cNvPr id="22" name="Text 20"/>
          <p:cNvSpPr/>
          <p:nvPr/>
        </p:nvSpPr>
        <p:spPr>
          <a:xfrm>
            <a:off x="4343400" y="3474720"/>
            <a:ext cx="3566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Async / threaded processing</a:t>
            </a:r>
            <a:endParaRPr lang="en-US" sz="1200" dirty="0"/>
          </a:p>
        </p:txBody>
      </p:sp>
      <p:sp>
        <p:nvSpPr>
          <p:cNvPr id="23" name="Text 21"/>
          <p:cNvSpPr/>
          <p:nvPr/>
        </p:nvSpPr>
        <p:spPr>
          <a:xfrm>
            <a:off x="4526280" y="4023360"/>
            <a:ext cx="3200400" cy="11430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keep the GUI fully responsive during long cleaning operations</a:t>
            </a:r>
            <a:endParaRPr lang="en-US" sz="1050" dirty="0"/>
          </a:p>
        </p:txBody>
      </p:sp>
      <p:sp>
        <p:nvSpPr>
          <p:cNvPr id="24" name="Shape 22"/>
          <p:cNvSpPr/>
          <p:nvPr/>
        </p:nvSpPr>
        <p:spPr>
          <a:xfrm>
            <a:off x="8138160" y="3474720"/>
            <a:ext cx="3566160" cy="1783080"/>
          </a:xfrm>
          <a:prstGeom prst="roundRect">
            <a:avLst>
              <a:gd name="adj" fmla="val 6154"/>
            </a:avLst>
          </a:prstGeom>
          <a:solidFill>
            <a:srgbClr val="F2F5F9"/>
          </a:solidFill>
          <a:ln/>
          <a:effectLst>
            <a:outerShdw sx="100000" sy="100000" kx="0" ky="0" algn="bl" rotWithShape="0" blurRad="101600" dist="25400" dir="5400000">
              <a:srgbClr val="94A3B8">
                <a:alpha val="28000"/>
              </a:srgbClr>
            </a:outerShdw>
          </a:effectLst>
        </p:spPr>
      </p:sp>
      <p:sp>
        <p:nvSpPr>
          <p:cNvPr id="25" name="Shape 23"/>
          <p:cNvSpPr/>
          <p:nvPr/>
        </p:nvSpPr>
        <p:spPr>
          <a:xfrm>
            <a:off x="8138160" y="3474720"/>
            <a:ext cx="3566160" cy="402336"/>
          </a:xfrm>
          <a:prstGeom prst="rect">
            <a:avLst/>
          </a:prstGeom>
          <a:solidFill>
            <a:srgbClr val="FFB300"/>
          </a:solidFill>
          <a:ln/>
        </p:spPr>
      </p:sp>
      <p:sp>
        <p:nvSpPr>
          <p:cNvPr id="26" name="Text 24"/>
          <p:cNvSpPr/>
          <p:nvPr/>
        </p:nvSpPr>
        <p:spPr>
          <a:xfrm>
            <a:off x="8138160" y="3474720"/>
            <a:ext cx="356616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AI-based denoising option</a:t>
            </a:r>
            <a:endParaRPr lang="en-US" sz="1200" dirty="0"/>
          </a:p>
        </p:txBody>
      </p:sp>
      <p:sp>
        <p:nvSpPr>
          <p:cNvPr id="27" name="Text 25"/>
          <p:cNvSpPr/>
          <p:nvPr/>
        </p:nvSpPr>
        <p:spPr>
          <a:xfrm>
            <a:off x="8321040" y="4023360"/>
            <a:ext cx="3200400" cy="11430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add a neural denoiser (e.g. RNNoise) as a selectable, higher-quality backend</a:t>
            </a:r>
            <a:endParaRPr lang="en-US" sz="1050" dirty="0"/>
          </a:p>
        </p:txBody>
      </p:sp>
      <p:sp>
        <p:nvSpPr>
          <p:cNvPr id="28" name="Text 26"/>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1B3A5F"/>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Conclusion</a:t>
            </a:r>
            <a:endParaRPr lang="en-US" sz="3100" dirty="0"/>
          </a:p>
        </p:txBody>
      </p:sp>
      <p:sp>
        <p:nvSpPr>
          <p:cNvPr id="4" name="Text 2"/>
          <p:cNvSpPr/>
          <p:nvPr/>
        </p:nvSpPr>
        <p:spPr>
          <a:xfrm>
            <a:off x="822960" y="1554480"/>
            <a:ext cx="10332720" cy="3291840"/>
          </a:xfrm>
          <a:prstGeom prst="rect">
            <a:avLst/>
          </a:prstGeom>
          <a:noFill/>
          <a:ln/>
        </p:spPr>
        <p:txBody>
          <a:bodyPr wrap="square" lIns="0" tIns="0" rIns="0" bIns="0" rtlCol="0" anchor="t"/>
          <a:lstStyle/>
          <a:p>
            <a:pPr marL="177800" indent="-177800">
              <a:lnSpc>
                <a:spcPct val="104000"/>
              </a:lnSpc>
              <a:spcAft>
                <a:spcPts val="1600"/>
              </a:spcAft>
              <a:buSzPct val="100000"/>
              <a:buChar char="■"/>
            </a:pPr>
            <a:r>
              <a:rPr lang="en-US" sz="1450" dirty="0">
                <a:solidFill>
                  <a:srgbClr val="1F2937"/>
                </a:solidFill>
                <a:latin typeface="Calibri" pitchFamily="34" charset="0"/>
                <a:ea typeface="Calibri" pitchFamily="34" charset="-122"/>
                <a:cs typeface="Calibri" pitchFamily="34" charset="-120"/>
              </a:rPr>
              <a:t>Successfully built a working Python desktop application that extracts, cleans, and re-embeds audio in video files</a:t>
            </a:r>
            <a:endParaRPr lang="en-US" sz="1450" dirty="0"/>
          </a:p>
          <a:p>
            <a:pPr marL="177800" indent="-177800">
              <a:lnSpc>
                <a:spcPct val="104000"/>
              </a:lnSpc>
              <a:spcAft>
                <a:spcPts val="1600"/>
              </a:spcAft>
              <a:buSzPct val="100000"/>
              <a:buChar char="■"/>
            </a:pPr>
            <a:r>
              <a:rPr lang="en-US" sz="1450" dirty="0">
                <a:solidFill>
                  <a:srgbClr val="1F2937"/>
                </a:solidFill>
                <a:latin typeface="Calibri" pitchFamily="34" charset="0"/>
                <a:ea typeface="Calibri" pitchFamily="34" charset="-122"/>
                <a:cs typeface="Calibri" pitchFamily="34" charset="-120"/>
              </a:rPr>
              <a:t>Combines Tkinter (GUI), MoviePy (video/audio I/O), SciPy (WAV handling), noisereduce (spectral-gating denoising) and FFmpeg (video/audio merge) into one coherent tool</a:t>
            </a:r>
            <a:endParaRPr lang="en-US" sz="1450" dirty="0"/>
          </a:p>
          <a:p>
            <a:pPr marL="177800" indent="-177800">
              <a:lnSpc>
                <a:spcPct val="104000"/>
              </a:lnSpc>
              <a:spcAft>
                <a:spcPts val="1600"/>
              </a:spcAft>
              <a:buSzPct val="100000"/>
              <a:buChar char="■"/>
            </a:pPr>
            <a:r>
              <a:rPr lang="en-US" sz="1450" dirty="0">
                <a:solidFill>
                  <a:srgbClr val="1F2937"/>
                </a:solidFill>
                <a:latin typeface="Calibri" pitchFamily="34" charset="0"/>
                <a:ea typeface="Calibri" pitchFamily="34" charset="-122"/>
                <a:cs typeface="Calibri" pitchFamily="34" charset="-120"/>
              </a:rPr>
              <a:t>Tested on real .mp4/.mkv clips with audible background noise; cleaned output verified by direct listening comparison</a:t>
            </a:r>
            <a:endParaRPr lang="en-US" sz="1450" dirty="0"/>
          </a:p>
          <a:p>
            <a:pPr marL="177800" indent="-177800">
              <a:lnSpc>
                <a:spcPct val="104000"/>
              </a:lnSpc>
              <a:spcAft>
                <a:spcPts val="1600"/>
              </a:spcAft>
              <a:buSzPct val="100000"/>
              <a:buChar char="■"/>
            </a:pPr>
            <a:r>
              <a:rPr lang="en-US" sz="1450" dirty="0">
                <a:solidFill>
                  <a:srgbClr val="1F2937"/>
                </a:solidFill>
                <a:latin typeface="Calibri" pitchFamily="34" charset="0"/>
                <a:ea typeface="Calibri" pitchFamily="34" charset="-122"/>
                <a:cs typeface="Calibri" pitchFamily="34" charset="-120"/>
              </a:rPr>
              <a:t>Honestly documented limitations (fixed noise-sample window, hard-coded FFmpeg path, no formal metrics) alongside a concrete future-scope roadmap</a:t>
            </a:r>
            <a:endParaRPr lang="en-US" sz="1450" dirty="0"/>
          </a:p>
          <a:p>
            <a:pPr marL="177800" indent="-177800">
              <a:lnSpc>
                <a:spcPct val="104000"/>
              </a:lnSpc>
              <a:spcAft>
                <a:spcPts val="1600"/>
              </a:spcAft>
              <a:buSzPct val="100000"/>
              <a:buChar char="■"/>
            </a:pPr>
            <a:r>
              <a:rPr lang="en-US" sz="1450" dirty="0">
                <a:solidFill>
                  <a:srgbClr val="1F2937"/>
                </a:solidFill>
                <a:latin typeface="Calibri" pitchFamily="34" charset="0"/>
                <a:ea typeface="Calibri" pitchFamily="34" charset="-122"/>
                <a:cs typeface="Calibri" pitchFamily="34" charset="-120"/>
              </a:rPr>
              <a:t>Meets the NIELIT 'O' Level project requirements: Problem Statement, Objectives, Tools Used, System Requirements, Source Code, Output, Conclusion</a:t>
            </a:r>
            <a:endParaRPr lang="en-US" sz="1450" dirty="0"/>
          </a:p>
        </p:txBody>
      </p:sp>
      <p:sp>
        <p:nvSpPr>
          <p:cNvPr id="5" name="Shape 3"/>
          <p:cNvSpPr/>
          <p:nvPr/>
        </p:nvSpPr>
        <p:spPr>
          <a:xfrm>
            <a:off x="548640" y="5029200"/>
            <a:ext cx="11064240" cy="1097280"/>
          </a:xfrm>
          <a:prstGeom prst="roundRect">
            <a:avLst>
              <a:gd name="adj" fmla="val 10000"/>
            </a:avLst>
          </a:prstGeom>
          <a:solidFill>
            <a:srgbClr val="E6F4F2"/>
          </a:solidFill>
          <a:ln/>
          <a:effectLst>
            <a:outerShdw sx="100000" sy="100000" kx="0" ky="0" algn="bl" rotWithShape="0" blurRad="101600" dist="25400" dir="5400000">
              <a:srgbClr val="94A3B8">
                <a:alpha val="28000"/>
              </a:srgbClr>
            </a:outerShdw>
          </a:effectLst>
        </p:spPr>
      </p:sp>
      <p:sp>
        <p:nvSpPr>
          <p:cNvPr id="6" name="Text 4"/>
          <p:cNvSpPr/>
          <p:nvPr/>
        </p:nvSpPr>
        <p:spPr>
          <a:xfrm>
            <a:off x="777240" y="5166360"/>
            <a:ext cx="10607040" cy="822960"/>
          </a:xfrm>
          <a:prstGeom prst="rect">
            <a:avLst/>
          </a:prstGeom>
          <a:noFill/>
          <a:ln/>
        </p:spPr>
        <p:txBody>
          <a:bodyPr wrap="square" lIns="0" tIns="0" rIns="0" bIns="0" rtlCol="0" anchor="ctr"/>
          <a:lstStyle/>
          <a:p>
            <a:pPr indent="0" marL="0">
              <a:buNone/>
            </a:pPr>
            <a:r>
              <a:rPr lang="en-US" sz="1300" i="1" dirty="0">
                <a:solidFill>
                  <a:srgbClr val="1F2937"/>
                </a:solidFill>
                <a:latin typeface="Calibri" pitchFamily="34" charset="0"/>
                <a:ea typeface="Calibri" pitchFamily="34" charset="-122"/>
                <a:cs typeface="Calibri" pitchFamily="34" charset="-120"/>
              </a:rPr>
              <a:t>The core takeaway: a small, honestly-documented tool that solves a real, everyday audio problem using well-understood, transparent Python libraries.</a:t>
            </a:r>
            <a:endParaRPr lang="en-US" sz="1300" dirty="0"/>
          </a:p>
        </p:txBody>
      </p:sp>
      <p:sp>
        <p:nvSpPr>
          <p:cNvPr id="7" name="Text 5"/>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5F6B7A"/>
                </a:solidFill>
                <a:latin typeface="Calibri" pitchFamily="34" charset="0"/>
                <a:ea typeface="Calibri" pitchFamily="34" charset="-122"/>
                <a:cs typeface="Calibri" pitchFamily="34" charset="-120"/>
              </a:rPr>
              <a:t>BIBLIOGRAPHY</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Bibliography — 20 References</a:t>
            </a:r>
            <a:endParaRPr lang="en-US" sz="3100" dirty="0"/>
          </a:p>
        </p:txBody>
      </p:sp>
      <p:sp>
        <p:nvSpPr>
          <p:cNvPr id="4" name="Text 2"/>
          <p:cNvSpPr/>
          <p:nvPr/>
        </p:nvSpPr>
        <p:spPr>
          <a:xfrm>
            <a:off x="548640" y="1463040"/>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a:t>
            </a:r>
            <a:endParaRPr lang="en-US" sz="1000" dirty="0"/>
          </a:p>
        </p:txBody>
      </p:sp>
      <p:sp>
        <p:nvSpPr>
          <p:cNvPr id="5" name="Text 3"/>
          <p:cNvSpPr/>
          <p:nvPr/>
        </p:nvSpPr>
        <p:spPr>
          <a:xfrm>
            <a:off x="960120" y="1463040"/>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McKinney, W. (2017). Python for Data Analysis. O'Reilly Media.</a:t>
            </a:r>
            <a:endParaRPr lang="en-US" sz="930" dirty="0"/>
          </a:p>
        </p:txBody>
      </p:sp>
      <p:sp>
        <p:nvSpPr>
          <p:cNvPr id="6" name="Text 4"/>
          <p:cNvSpPr/>
          <p:nvPr/>
        </p:nvSpPr>
        <p:spPr>
          <a:xfrm>
            <a:off x="548640" y="1970532"/>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2.</a:t>
            </a:r>
            <a:endParaRPr lang="en-US" sz="1000" dirty="0"/>
          </a:p>
        </p:txBody>
      </p:sp>
      <p:sp>
        <p:nvSpPr>
          <p:cNvPr id="7" name="Text 5"/>
          <p:cNvSpPr/>
          <p:nvPr/>
        </p:nvSpPr>
        <p:spPr>
          <a:xfrm>
            <a:off x="960120" y="1970532"/>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Lutz, M. (2013). Learning Python (5th Ed.). O'Reilly Media.</a:t>
            </a:r>
            <a:endParaRPr lang="en-US" sz="930" dirty="0"/>
          </a:p>
        </p:txBody>
      </p:sp>
      <p:sp>
        <p:nvSpPr>
          <p:cNvPr id="8" name="Text 6"/>
          <p:cNvSpPr/>
          <p:nvPr/>
        </p:nvSpPr>
        <p:spPr>
          <a:xfrm>
            <a:off x="548640" y="2478024"/>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3.</a:t>
            </a:r>
            <a:endParaRPr lang="en-US" sz="1000" dirty="0"/>
          </a:p>
        </p:txBody>
      </p:sp>
      <p:sp>
        <p:nvSpPr>
          <p:cNvPr id="9" name="Text 7"/>
          <p:cNvSpPr/>
          <p:nvPr/>
        </p:nvSpPr>
        <p:spPr>
          <a:xfrm>
            <a:off x="960120" y="2478024"/>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VanderPlas, J. (2016). Python Data Science Handbook. O'Reilly Media.</a:t>
            </a:r>
            <a:endParaRPr lang="en-US" sz="930" dirty="0"/>
          </a:p>
        </p:txBody>
      </p:sp>
      <p:sp>
        <p:nvSpPr>
          <p:cNvPr id="10" name="Text 8"/>
          <p:cNvSpPr/>
          <p:nvPr/>
        </p:nvSpPr>
        <p:spPr>
          <a:xfrm>
            <a:off x="548640" y="2985516"/>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4.</a:t>
            </a:r>
            <a:endParaRPr lang="en-US" sz="1000" dirty="0"/>
          </a:p>
        </p:txBody>
      </p:sp>
      <p:sp>
        <p:nvSpPr>
          <p:cNvPr id="11" name="Text 9"/>
          <p:cNvSpPr/>
          <p:nvPr/>
        </p:nvSpPr>
        <p:spPr>
          <a:xfrm>
            <a:off x="960120" y="2985516"/>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Reitz, K., &amp; Schlusser, T. (2016). The Hitchhiker's Guide to Python. O'Reilly.</a:t>
            </a:r>
            <a:endParaRPr lang="en-US" sz="930" dirty="0"/>
          </a:p>
        </p:txBody>
      </p:sp>
      <p:sp>
        <p:nvSpPr>
          <p:cNvPr id="12" name="Text 10"/>
          <p:cNvSpPr/>
          <p:nvPr/>
        </p:nvSpPr>
        <p:spPr>
          <a:xfrm>
            <a:off x="548640" y="3493008"/>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5.</a:t>
            </a:r>
            <a:endParaRPr lang="en-US" sz="1000" dirty="0"/>
          </a:p>
        </p:txBody>
      </p:sp>
      <p:sp>
        <p:nvSpPr>
          <p:cNvPr id="13" name="Text 11"/>
          <p:cNvSpPr/>
          <p:nvPr/>
        </p:nvSpPr>
        <p:spPr>
          <a:xfrm>
            <a:off x="960120" y="3493008"/>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Downey, A. (2015). Think Python (2nd Ed.). O'Reilly Media.</a:t>
            </a:r>
            <a:endParaRPr lang="en-US" sz="930" dirty="0"/>
          </a:p>
        </p:txBody>
      </p:sp>
      <p:sp>
        <p:nvSpPr>
          <p:cNvPr id="14" name="Text 12"/>
          <p:cNvSpPr/>
          <p:nvPr/>
        </p:nvSpPr>
        <p:spPr>
          <a:xfrm>
            <a:off x="548640" y="4000500"/>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6.</a:t>
            </a:r>
            <a:endParaRPr lang="en-US" sz="1000" dirty="0"/>
          </a:p>
        </p:txBody>
      </p:sp>
      <p:sp>
        <p:nvSpPr>
          <p:cNvPr id="15" name="Text 13"/>
          <p:cNvSpPr/>
          <p:nvPr/>
        </p:nvSpPr>
        <p:spPr>
          <a:xfrm>
            <a:off x="960120" y="4000500"/>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van Rossum, G., &amp; Drake, F. L. (2009). Python 3 Reference Manual.</a:t>
            </a:r>
            <a:endParaRPr lang="en-US" sz="930" dirty="0"/>
          </a:p>
        </p:txBody>
      </p:sp>
      <p:sp>
        <p:nvSpPr>
          <p:cNvPr id="16" name="Text 14"/>
          <p:cNvSpPr/>
          <p:nvPr/>
        </p:nvSpPr>
        <p:spPr>
          <a:xfrm>
            <a:off x="548640" y="4507992"/>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7.</a:t>
            </a:r>
            <a:endParaRPr lang="en-US" sz="1000" dirty="0"/>
          </a:p>
        </p:txBody>
      </p:sp>
      <p:sp>
        <p:nvSpPr>
          <p:cNvPr id="17" name="Text 15"/>
          <p:cNvSpPr/>
          <p:nvPr/>
        </p:nvSpPr>
        <p:spPr>
          <a:xfrm>
            <a:off x="960120" y="4507992"/>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Python Software Foundation. (2024). Python Official Documentation.</a:t>
            </a:r>
            <a:endParaRPr lang="en-US" sz="930" dirty="0"/>
          </a:p>
        </p:txBody>
      </p:sp>
      <p:sp>
        <p:nvSpPr>
          <p:cNvPr id="18" name="Text 16"/>
          <p:cNvSpPr/>
          <p:nvPr/>
        </p:nvSpPr>
        <p:spPr>
          <a:xfrm>
            <a:off x="548640" y="5015484"/>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8.</a:t>
            </a:r>
            <a:endParaRPr lang="en-US" sz="1000" dirty="0"/>
          </a:p>
        </p:txBody>
      </p:sp>
      <p:sp>
        <p:nvSpPr>
          <p:cNvPr id="19" name="Text 17"/>
          <p:cNvSpPr/>
          <p:nvPr/>
        </p:nvSpPr>
        <p:spPr>
          <a:xfrm>
            <a:off x="960120" y="5015484"/>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FFmpeg Developers. (2024). FFmpeg Documentation.</a:t>
            </a:r>
            <a:endParaRPr lang="en-US" sz="930" dirty="0"/>
          </a:p>
        </p:txBody>
      </p:sp>
      <p:sp>
        <p:nvSpPr>
          <p:cNvPr id="20" name="Text 18"/>
          <p:cNvSpPr/>
          <p:nvPr/>
        </p:nvSpPr>
        <p:spPr>
          <a:xfrm>
            <a:off x="548640" y="5522976"/>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9.</a:t>
            </a:r>
            <a:endParaRPr lang="en-US" sz="1000" dirty="0"/>
          </a:p>
        </p:txBody>
      </p:sp>
      <p:sp>
        <p:nvSpPr>
          <p:cNvPr id="21" name="Text 19"/>
          <p:cNvSpPr/>
          <p:nvPr/>
        </p:nvSpPr>
        <p:spPr>
          <a:xfrm>
            <a:off x="960120" y="5522976"/>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MoviePy Developers. (2024). MoviePy Documentation.</a:t>
            </a:r>
            <a:endParaRPr lang="en-US" sz="930" dirty="0"/>
          </a:p>
        </p:txBody>
      </p:sp>
      <p:sp>
        <p:nvSpPr>
          <p:cNvPr id="22" name="Text 20"/>
          <p:cNvSpPr/>
          <p:nvPr/>
        </p:nvSpPr>
        <p:spPr>
          <a:xfrm>
            <a:off x="548640" y="6030468"/>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10.</a:t>
            </a:r>
            <a:endParaRPr lang="en-US" sz="1000" dirty="0"/>
          </a:p>
        </p:txBody>
      </p:sp>
      <p:sp>
        <p:nvSpPr>
          <p:cNvPr id="23" name="Text 21"/>
          <p:cNvSpPr/>
          <p:nvPr/>
        </p:nvSpPr>
        <p:spPr>
          <a:xfrm>
            <a:off x="960120" y="6030468"/>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SciPy Community. (2024). SciPy Documentation.</a:t>
            </a:r>
            <a:endParaRPr lang="en-US" sz="930" dirty="0"/>
          </a:p>
        </p:txBody>
      </p:sp>
      <p:sp>
        <p:nvSpPr>
          <p:cNvPr id="24" name="Text 22"/>
          <p:cNvSpPr/>
          <p:nvPr/>
        </p:nvSpPr>
        <p:spPr>
          <a:xfrm>
            <a:off x="6217920" y="1463040"/>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11.</a:t>
            </a:r>
            <a:endParaRPr lang="en-US" sz="1000" dirty="0"/>
          </a:p>
        </p:txBody>
      </p:sp>
      <p:sp>
        <p:nvSpPr>
          <p:cNvPr id="25" name="Text 23"/>
          <p:cNvSpPr/>
          <p:nvPr/>
        </p:nvSpPr>
        <p:spPr>
          <a:xfrm>
            <a:off x="6629400" y="1463040"/>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Noisereduce Developers. (2024). noisereduce Library Documentation.</a:t>
            </a:r>
            <a:endParaRPr lang="en-US" sz="930" dirty="0"/>
          </a:p>
        </p:txBody>
      </p:sp>
      <p:sp>
        <p:nvSpPr>
          <p:cNvPr id="26" name="Text 24"/>
          <p:cNvSpPr/>
          <p:nvPr/>
        </p:nvSpPr>
        <p:spPr>
          <a:xfrm>
            <a:off x="6217920" y="1970532"/>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12.</a:t>
            </a:r>
            <a:endParaRPr lang="en-US" sz="1000" dirty="0"/>
          </a:p>
        </p:txBody>
      </p:sp>
      <p:sp>
        <p:nvSpPr>
          <p:cNvPr id="27" name="Text 25"/>
          <p:cNvSpPr/>
          <p:nvPr/>
        </p:nvSpPr>
        <p:spPr>
          <a:xfrm>
            <a:off x="6629400" y="1970532"/>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Tkinter Documentation. (2024). Python Tkinter GUI Library Guide.</a:t>
            </a:r>
            <a:endParaRPr lang="en-US" sz="930" dirty="0"/>
          </a:p>
        </p:txBody>
      </p:sp>
      <p:sp>
        <p:nvSpPr>
          <p:cNvPr id="28" name="Text 26"/>
          <p:cNvSpPr/>
          <p:nvPr/>
        </p:nvSpPr>
        <p:spPr>
          <a:xfrm>
            <a:off x="6217920" y="2478024"/>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13.</a:t>
            </a:r>
            <a:endParaRPr lang="en-US" sz="1000" dirty="0"/>
          </a:p>
        </p:txBody>
      </p:sp>
      <p:sp>
        <p:nvSpPr>
          <p:cNvPr id="29" name="Text 27"/>
          <p:cNvSpPr/>
          <p:nvPr/>
        </p:nvSpPr>
        <p:spPr>
          <a:xfrm>
            <a:off x="6629400" y="2478024"/>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Playsound Developers. (2024). Playsound Library for Python.</a:t>
            </a:r>
            <a:endParaRPr lang="en-US" sz="930" dirty="0"/>
          </a:p>
        </p:txBody>
      </p:sp>
      <p:sp>
        <p:nvSpPr>
          <p:cNvPr id="30" name="Text 28"/>
          <p:cNvSpPr/>
          <p:nvPr/>
        </p:nvSpPr>
        <p:spPr>
          <a:xfrm>
            <a:off x="6217920" y="2985516"/>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14.</a:t>
            </a:r>
            <a:endParaRPr lang="en-US" sz="1000" dirty="0"/>
          </a:p>
        </p:txBody>
      </p:sp>
      <p:sp>
        <p:nvSpPr>
          <p:cNvPr id="31" name="Text 29"/>
          <p:cNvSpPr/>
          <p:nvPr/>
        </p:nvSpPr>
        <p:spPr>
          <a:xfrm>
            <a:off x="6629400" y="2985516"/>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Verma, T., &amp; Sahni, A. (2025). Audio Noise Remover from Video. Unpublished student project.</a:t>
            </a:r>
            <a:endParaRPr lang="en-US" sz="930" dirty="0"/>
          </a:p>
        </p:txBody>
      </p:sp>
      <p:sp>
        <p:nvSpPr>
          <p:cNvPr id="32" name="Text 30"/>
          <p:cNvSpPr/>
          <p:nvPr/>
        </p:nvSpPr>
        <p:spPr>
          <a:xfrm>
            <a:off x="6217920" y="3493008"/>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15.</a:t>
            </a:r>
            <a:endParaRPr lang="en-US" sz="1000" dirty="0"/>
          </a:p>
        </p:txBody>
      </p:sp>
      <p:sp>
        <p:nvSpPr>
          <p:cNvPr id="33" name="Text 31"/>
          <p:cNvSpPr/>
          <p:nvPr/>
        </p:nvSpPr>
        <p:spPr>
          <a:xfrm>
            <a:off x="6629400" y="3493008"/>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Smith, J. O. (2010). Introduction to Digital Filters with Audio Applications.</a:t>
            </a:r>
            <a:endParaRPr lang="en-US" sz="930" dirty="0"/>
          </a:p>
        </p:txBody>
      </p:sp>
      <p:sp>
        <p:nvSpPr>
          <p:cNvPr id="34" name="Text 32"/>
          <p:cNvSpPr/>
          <p:nvPr/>
        </p:nvSpPr>
        <p:spPr>
          <a:xfrm>
            <a:off x="6217920" y="4000500"/>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16.</a:t>
            </a:r>
            <a:endParaRPr lang="en-US" sz="1000" dirty="0"/>
          </a:p>
        </p:txBody>
      </p:sp>
      <p:sp>
        <p:nvSpPr>
          <p:cNvPr id="35" name="Text 33"/>
          <p:cNvSpPr/>
          <p:nvPr/>
        </p:nvSpPr>
        <p:spPr>
          <a:xfrm>
            <a:off x="6629400" y="4000500"/>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Mitra, S. K. (2010). Digital Signal Processing: A Computer-Based Approach.</a:t>
            </a:r>
            <a:endParaRPr lang="en-US" sz="930" dirty="0"/>
          </a:p>
        </p:txBody>
      </p:sp>
      <p:sp>
        <p:nvSpPr>
          <p:cNvPr id="36" name="Text 34"/>
          <p:cNvSpPr/>
          <p:nvPr/>
        </p:nvSpPr>
        <p:spPr>
          <a:xfrm>
            <a:off x="6217920" y="4507992"/>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17.</a:t>
            </a:r>
            <a:endParaRPr lang="en-US" sz="1000" dirty="0"/>
          </a:p>
        </p:txBody>
      </p:sp>
      <p:sp>
        <p:nvSpPr>
          <p:cNvPr id="37" name="Text 35"/>
          <p:cNvSpPr/>
          <p:nvPr/>
        </p:nvSpPr>
        <p:spPr>
          <a:xfrm>
            <a:off x="6629400" y="4507992"/>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Lyons, R. G. (2011). Understanding Digital Signal Processing (3rd Ed.).</a:t>
            </a:r>
            <a:endParaRPr lang="en-US" sz="930" dirty="0"/>
          </a:p>
        </p:txBody>
      </p:sp>
      <p:sp>
        <p:nvSpPr>
          <p:cNvPr id="38" name="Text 36"/>
          <p:cNvSpPr/>
          <p:nvPr/>
        </p:nvSpPr>
        <p:spPr>
          <a:xfrm>
            <a:off x="6217920" y="5015484"/>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18.</a:t>
            </a:r>
            <a:endParaRPr lang="en-US" sz="1000" dirty="0"/>
          </a:p>
        </p:txBody>
      </p:sp>
      <p:sp>
        <p:nvSpPr>
          <p:cNvPr id="39" name="Text 37"/>
          <p:cNvSpPr/>
          <p:nvPr/>
        </p:nvSpPr>
        <p:spPr>
          <a:xfrm>
            <a:off x="6629400" y="5015484"/>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Audacity Team. (2024). Noise Reduction Techniques in Audio Processing.</a:t>
            </a:r>
            <a:endParaRPr lang="en-US" sz="930" dirty="0"/>
          </a:p>
        </p:txBody>
      </p:sp>
      <p:sp>
        <p:nvSpPr>
          <p:cNvPr id="40" name="Text 38"/>
          <p:cNvSpPr/>
          <p:nvPr/>
        </p:nvSpPr>
        <p:spPr>
          <a:xfrm>
            <a:off x="6217920" y="5522976"/>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19.</a:t>
            </a:r>
            <a:endParaRPr lang="en-US" sz="1000" dirty="0"/>
          </a:p>
        </p:txBody>
      </p:sp>
      <p:sp>
        <p:nvSpPr>
          <p:cNvPr id="41" name="Text 39"/>
          <p:cNvSpPr/>
          <p:nvPr/>
        </p:nvSpPr>
        <p:spPr>
          <a:xfrm>
            <a:off x="6629400" y="5522976"/>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OpenAI. (2023). Applications of AI in Audio and Video Processing.</a:t>
            </a:r>
            <a:endParaRPr lang="en-US" sz="930" dirty="0"/>
          </a:p>
        </p:txBody>
      </p:sp>
      <p:sp>
        <p:nvSpPr>
          <p:cNvPr id="42" name="Text 40"/>
          <p:cNvSpPr/>
          <p:nvPr/>
        </p:nvSpPr>
        <p:spPr>
          <a:xfrm>
            <a:off x="6217920" y="6030468"/>
            <a:ext cx="365760" cy="457200"/>
          </a:xfrm>
          <a:prstGeom prst="rect">
            <a:avLst/>
          </a:prstGeom>
          <a:noFill/>
          <a:ln/>
        </p:spPr>
        <p:txBody>
          <a:bodyPr wrap="square" lIns="0" tIns="0" rIns="0" bIns="0" rtlCol="0" anchor="ctr"/>
          <a:lstStyle/>
          <a:p>
            <a:pPr indent="0" marL="0">
              <a:buNone/>
            </a:pPr>
            <a:r>
              <a:rPr lang="en-US" sz="1000" b="1" dirty="0">
                <a:solidFill>
                  <a:srgbClr val="10243E"/>
                </a:solidFill>
                <a:latin typeface="Calibri" pitchFamily="34" charset="0"/>
                <a:ea typeface="Calibri" pitchFamily="34" charset="-122"/>
                <a:cs typeface="Calibri" pitchFamily="34" charset="-120"/>
              </a:rPr>
              <a:t>20.</a:t>
            </a:r>
            <a:endParaRPr lang="en-US" sz="1000" dirty="0"/>
          </a:p>
        </p:txBody>
      </p:sp>
      <p:sp>
        <p:nvSpPr>
          <p:cNvPr id="43" name="Text 41"/>
          <p:cNvSpPr/>
          <p:nvPr/>
        </p:nvSpPr>
        <p:spPr>
          <a:xfrm>
            <a:off x="6629400" y="6030468"/>
            <a:ext cx="5120640" cy="475488"/>
          </a:xfrm>
          <a:prstGeom prst="rect">
            <a:avLst/>
          </a:prstGeom>
          <a:noFill/>
          <a:ln/>
        </p:spPr>
        <p:txBody>
          <a:bodyPr wrap="square" lIns="0" tIns="0" rIns="0" bIns="0" rtlCol="0" anchor="ctr"/>
          <a:lstStyle/>
          <a:p>
            <a:pPr indent="0" marL="0">
              <a:buNone/>
            </a:pPr>
            <a:r>
              <a:rPr lang="en-US" sz="930" dirty="0">
                <a:solidFill>
                  <a:srgbClr val="1F2937"/>
                </a:solidFill>
                <a:latin typeface="Calibri" pitchFamily="34" charset="0"/>
                <a:ea typeface="Calibri" pitchFamily="34" charset="-122"/>
                <a:cs typeface="Calibri" pitchFamily="34" charset="-120"/>
              </a:rPr>
              <a:t>Ascher, D., &amp; Lutz, M. (2001). Learning Python. O'Reilly Media.</a:t>
            </a:r>
            <a:endParaRPr lang="en-US" sz="930" dirty="0"/>
          </a:p>
        </p:txBody>
      </p:sp>
      <p:sp>
        <p:nvSpPr>
          <p:cNvPr id="44" name="Text 42"/>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515600" cy="292608"/>
          </a:xfrm>
          <a:prstGeom prst="rect">
            <a:avLst/>
          </a:prstGeom>
          <a:noFill/>
          <a:ln/>
        </p:spPr>
        <p:txBody>
          <a:bodyPr wrap="square" lIns="0" tIns="0" rIns="0" bIns="0" rtlCol="0" anchor="ctr"/>
          <a:lstStyle/>
          <a:p>
            <a:pPr indent="0" marL="0">
              <a:buNone/>
            </a:pPr>
            <a:r>
              <a:rPr lang="en-US" sz="1300" b="1" spc="300" kern="0" dirty="0">
                <a:solidFill>
                  <a:srgbClr val="5E35B1"/>
                </a:solidFill>
                <a:latin typeface="Calibri" pitchFamily="34" charset="0"/>
                <a:ea typeface="Calibri" pitchFamily="34" charset="-122"/>
                <a:cs typeface="Calibri" pitchFamily="34" charset="-120"/>
              </a:rPr>
              <a:t>PROJECT DETAILS</a:t>
            </a:r>
            <a:endParaRPr lang="en-US" sz="1300" dirty="0"/>
          </a:p>
        </p:txBody>
      </p:sp>
      <p:sp>
        <p:nvSpPr>
          <p:cNvPr id="3" name="Text 1"/>
          <p:cNvSpPr/>
          <p:nvPr/>
        </p:nvSpPr>
        <p:spPr>
          <a:xfrm>
            <a:off x="548640" y="566928"/>
            <a:ext cx="11064240" cy="685800"/>
          </a:xfrm>
          <a:prstGeom prst="rect">
            <a:avLst/>
          </a:prstGeom>
          <a:noFill/>
          <a:ln/>
        </p:spPr>
        <p:txBody>
          <a:bodyPr wrap="square" lIns="0" tIns="0" rIns="0" bIns="0" rtlCol="0" anchor="ctr"/>
          <a:lstStyle/>
          <a:p>
            <a:pPr indent="0" marL="0">
              <a:buNone/>
            </a:pPr>
            <a:r>
              <a:rPr lang="en-US" sz="3100" b="1" dirty="0">
                <a:solidFill>
                  <a:srgbClr val="10243E"/>
                </a:solidFill>
                <a:latin typeface="Cambria" pitchFamily="34" charset="0"/>
                <a:ea typeface="Cambria" pitchFamily="34" charset="-122"/>
                <a:cs typeface="Cambria" pitchFamily="34" charset="-120"/>
              </a:rPr>
              <a:t>Submission Details</a:t>
            </a:r>
            <a:endParaRPr lang="en-US" sz="3100" dirty="0"/>
          </a:p>
        </p:txBody>
      </p:sp>
      <p:sp>
        <p:nvSpPr>
          <p:cNvPr id="4" name="Shape 2"/>
          <p:cNvSpPr/>
          <p:nvPr/>
        </p:nvSpPr>
        <p:spPr>
          <a:xfrm>
            <a:off x="548640" y="1554480"/>
            <a:ext cx="11064240" cy="640080"/>
          </a:xfrm>
          <a:prstGeom prst="roundRect">
            <a:avLst>
              <a:gd name="adj" fmla="val 17143"/>
            </a:avLst>
          </a:prstGeom>
          <a:solidFill>
            <a:srgbClr val="F2F5F9"/>
          </a:solidFill>
          <a:ln/>
          <a:effectLst>
            <a:outerShdw sx="100000" sy="100000" kx="0" ky="0" algn="bl" rotWithShape="0" blurRad="101600" dist="25400" dir="5400000">
              <a:srgbClr val="94A3B8">
                <a:alpha val="28000"/>
              </a:srgbClr>
            </a:outerShdw>
          </a:effectLst>
        </p:spPr>
      </p:sp>
      <p:sp>
        <p:nvSpPr>
          <p:cNvPr id="5" name="Text 3"/>
          <p:cNvSpPr/>
          <p:nvPr/>
        </p:nvSpPr>
        <p:spPr>
          <a:xfrm>
            <a:off x="822960" y="1600200"/>
            <a:ext cx="3200400" cy="548640"/>
          </a:xfrm>
          <a:prstGeom prst="rect">
            <a:avLst/>
          </a:prstGeom>
          <a:noFill/>
          <a:ln/>
        </p:spPr>
        <p:txBody>
          <a:bodyPr wrap="square" lIns="0" tIns="0" rIns="0" bIns="0" rtlCol="0" anchor="ctr"/>
          <a:lstStyle/>
          <a:p>
            <a:pPr indent="0" marL="0">
              <a:buNone/>
            </a:pPr>
            <a:r>
              <a:rPr lang="en-US" sz="1300" b="1" dirty="0">
                <a:solidFill>
                  <a:srgbClr val="5E35B1"/>
                </a:solidFill>
                <a:latin typeface="Calibri" pitchFamily="34" charset="0"/>
                <a:ea typeface="Calibri" pitchFamily="34" charset="-122"/>
                <a:cs typeface="Calibri" pitchFamily="34" charset="-120"/>
              </a:rPr>
              <a:t>Candidate</a:t>
            </a:r>
            <a:endParaRPr lang="en-US" sz="1300" dirty="0"/>
          </a:p>
        </p:txBody>
      </p:sp>
      <p:sp>
        <p:nvSpPr>
          <p:cNvPr id="6" name="Text 4"/>
          <p:cNvSpPr/>
          <p:nvPr/>
        </p:nvSpPr>
        <p:spPr>
          <a:xfrm>
            <a:off x="4114800" y="1600200"/>
            <a:ext cx="731520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Alok Sahni</a:t>
            </a:r>
            <a:endParaRPr lang="en-US" sz="1250" dirty="0"/>
          </a:p>
        </p:txBody>
      </p:sp>
      <p:sp>
        <p:nvSpPr>
          <p:cNvPr id="7" name="Shape 5"/>
          <p:cNvSpPr/>
          <p:nvPr/>
        </p:nvSpPr>
        <p:spPr>
          <a:xfrm>
            <a:off x="548640" y="2331720"/>
            <a:ext cx="11064240" cy="640080"/>
          </a:xfrm>
          <a:prstGeom prst="roundRect">
            <a:avLst>
              <a:gd name="adj" fmla="val 17143"/>
            </a:avLst>
          </a:prstGeom>
          <a:solidFill>
            <a:srgbClr val="F2F5F9"/>
          </a:solidFill>
          <a:ln/>
          <a:effectLst>
            <a:outerShdw sx="100000" sy="100000" kx="0" ky="0" algn="bl" rotWithShape="0" blurRad="101600" dist="25400" dir="5400000">
              <a:srgbClr val="94A3B8">
                <a:alpha val="28000"/>
              </a:srgbClr>
            </a:outerShdw>
          </a:effectLst>
        </p:spPr>
      </p:sp>
      <p:sp>
        <p:nvSpPr>
          <p:cNvPr id="8" name="Text 6"/>
          <p:cNvSpPr/>
          <p:nvPr/>
        </p:nvSpPr>
        <p:spPr>
          <a:xfrm>
            <a:off x="822960" y="2377440"/>
            <a:ext cx="3200400" cy="548640"/>
          </a:xfrm>
          <a:prstGeom prst="rect">
            <a:avLst/>
          </a:prstGeom>
          <a:noFill/>
          <a:ln/>
        </p:spPr>
        <p:txBody>
          <a:bodyPr wrap="square" lIns="0" tIns="0" rIns="0" bIns="0" rtlCol="0" anchor="ctr"/>
          <a:lstStyle/>
          <a:p>
            <a:pPr indent="0" marL="0">
              <a:buNone/>
            </a:pPr>
            <a:r>
              <a:rPr lang="en-US" sz="1300" b="1" dirty="0">
                <a:solidFill>
                  <a:srgbClr val="5E35B1"/>
                </a:solidFill>
                <a:latin typeface="Calibri" pitchFamily="34" charset="0"/>
                <a:ea typeface="Calibri" pitchFamily="34" charset="-122"/>
                <a:cs typeface="Calibri" pitchFamily="34" charset="-120"/>
              </a:rPr>
              <a:t>Course</a:t>
            </a:r>
            <a:endParaRPr lang="en-US" sz="1300" dirty="0"/>
          </a:p>
        </p:txBody>
      </p:sp>
      <p:sp>
        <p:nvSpPr>
          <p:cNvPr id="9" name="Text 7"/>
          <p:cNvSpPr/>
          <p:nvPr/>
        </p:nvSpPr>
        <p:spPr>
          <a:xfrm>
            <a:off x="4114800" y="2377440"/>
            <a:ext cx="731520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NIELIT 'O' Level Examination (all four modules)</a:t>
            </a:r>
            <a:endParaRPr lang="en-US" sz="1250" dirty="0"/>
          </a:p>
        </p:txBody>
      </p:sp>
      <p:sp>
        <p:nvSpPr>
          <p:cNvPr id="10" name="Shape 8"/>
          <p:cNvSpPr/>
          <p:nvPr/>
        </p:nvSpPr>
        <p:spPr>
          <a:xfrm>
            <a:off x="548640" y="3108960"/>
            <a:ext cx="11064240" cy="640080"/>
          </a:xfrm>
          <a:prstGeom prst="roundRect">
            <a:avLst>
              <a:gd name="adj" fmla="val 17143"/>
            </a:avLst>
          </a:prstGeom>
          <a:solidFill>
            <a:srgbClr val="F2F5F9"/>
          </a:solidFill>
          <a:ln/>
          <a:effectLst>
            <a:outerShdw sx="100000" sy="100000" kx="0" ky="0" algn="bl" rotWithShape="0" blurRad="101600" dist="25400" dir="5400000">
              <a:srgbClr val="94A3B8">
                <a:alpha val="28000"/>
              </a:srgbClr>
            </a:outerShdw>
          </a:effectLst>
        </p:spPr>
      </p:sp>
      <p:sp>
        <p:nvSpPr>
          <p:cNvPr id="11" name="Text 9"/>
          <p:cNvSpPr/>
          <p:nvPr/>
        </p:nvSpPr>
        <p:spPr>
          <a:xfrm>
            <a:off x="822960" y="3154680"/>
            <a:ext cx="3200400" cy="548640"/>
          </a:xfrm>
          <a:prstGeom prst="rect">
            <a:avLst/>
          </a:prstGeom>
          <a:noFill/>
          <a:ln/>
        </p:spPr>
        <p:txBody>
          <a:bodyPr wrap="square" lIns="0" tIns="0" rIns="0" bIns="0" rtlCol="0" anchor="ctr"/>
          <a:lstStyle/>
          <a:p>
            <a:pPr indent="0" marL="0">
              <a:buNone/>
            </a:pPr>
            <a:r>
              <a:rPr lang="en-US" sz="1300" b="1" dirty="0">
                <a:solidFill>
                  <a:srgbClr val="5E35B1"/>
                </a:solidFill>
                <a:latin typeface="Calibri" pitchFamily="34" charset="0"/>
                <a:ea typeface="Calibri" pitchFamily="34" charset="-122"/>
                <a:cs typeface="Calibri" pitchFamily="34" charset="-120"/>
              </a:rPr>
              <a:t>Institute</a:t>
            </a:r>
            <a:endParaRPr lang="en-US" sz="1300" dirty="0"/>
          </a:p>
        </p:txBody>
      </p:sp>
      <p:sp>
        <p:nvSpPr>
          <p:cNvPr id="12" name="Text 10"/>
          <p:cNvSpPr/>
          <p:nvPr/>
        </p:nvSpPr>
        <p:spPr>
          <a:xfrm>
            <a:off x="4114800" y="3154680"/>
            <a:ext cx="731520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 Institute, A-10, UIT Complex, M.P. Colony, Bikaner, Rajasthan</a:t>
            </a:r>
            <a:endParaRPr lang="en-US" sz="1250" dirty="0"/>
          </a:p>
        </p:txBody>
      </p:sp>
      <p:sp>
        <p:nvSpPr>
          <p:cNvPr id="13" name="Shape 11"/>
          <p:cNvSpPr/>
          <p:nvPr/>
        </p:nvSpPr>
        <p:spPr>
          <a:xfrm>
            <a:off x="548640" y="3886200"/>
            <a:ext cx="11064240" cy="640080"/>
          </a:xfrm>
          <a:prstGeom prst="roundRect">
            <a:avLst>
              <a:gd name="adj" fmla="val 17143"/>
            </a:avLst>
          </a:prstGeom>
          <a:solidFill>
            <a:srgbClr val="F2F5F9"/>
          </a:solidFill>
          <a:ln/>
          <a:effectLst>
            <a:outerShdw sx="100000" sy="100000" kx="0" ky="0" algn="bl" rotWithShape="0" blurRad="101600" dist="25400" dir="5400000">
              <a:srgbClr val="94A3B8">
                <a:alpha val="28000"/>
              </a:srgbClr>
            </a:outerShdw>
          </a:effectLst>
        </p:spPr>
      </p:sp>
      <p:sp>
        <p:nvSpPr>
          <p:cNvPr id="14" name="Text 12"/>
          <p:cNvSpPr/>
          <p:nvPr/>
        </p:nvSpPr>
        <p:spPr>
          <a:xfrm>
            <a:off x="822960" y="3931920"/>
            <a:ext cx="3200400" cy="548640"/>
          </a:xfrm>
          <a:prstGeom prst="rect">
            <a:avLst/>
          </a:prstGeom>
          <a:noFill/>
          <a:ln/>
        </p:spPr>
        <p:txBody>
          <a:bodyPr wrap="square" lIns="0" tIns="0" rIns="0" bIns="0" rtlCol="0" anchor="ctr"/>
          <a:lstStyle/>
          <a:p>
            <a:pPr indent="0" marL="0">
              <a:buNone/>
            </a:pPr>
            <a:r>
              <a:rPr lang="en-US" sz="1300" b="1" dirty="0">
                <a:solidFill>
                  <a:srgbClr val="5E35B1"/>
                </a:solidFill>
                <a:latin typeface="Calibri" pitchFamily="34" charset="0"/>
                <a:ea typeface="Calibri" pitchFamily="34" charset="-122"/>
                <a:cs typeface="Calibri" pitchFamily="34" charset="-120"/>
              </a:rPr>
              <a:t>Guide / Supervisor</a:t>
            </a:r>
            <a:endParaRPr lang="en-US" sz="1300" dirty="0"/>
          </a:p>
        </p:txBody>
      </p:sp>
      <p:sp>
        <p:nvSpPr>
          <p:cNvPr id="15" name="Text 13"/>
          <p:cNvSpPr/>
          <p:nvPr/>
        </p:nvSpPr>
        <p:spPr>
          <a:xfrm>
            <a:off x="4114800" y="3931920"/>
            <a:ext cx="731520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Tarun Verma</a:t>
            </a:r>
            <a:endParaRPr lang="en-US" sz="1250" dirty="0"/>
          </a:p>
        </p:txBody>
      </p:sp>
      <p:sp>
        <p:nvSpPr>
          <p:cNvPr id="16" name="Shape 14"/>
          <p:cNvSpPr/>
          <p:nvPr/>
        </p:nvSpPr>
        <p:spPr>
          <a:xfrm>
            <a:off x="548640" y="4663440"/>
            <a:ext cx="11064240" cy="640080"/>
          </a:xfrm>
          <a:prstGeom prst="roundRect">
            <a:avLst>
              <a:gd name="adj" fmla="val 17143"/>
            </a:avLst>
          </a:prstGeom>
          <a:solidFill>
            <a:srgbClr val="F2F5F9"/>
          </a:solidFill>
          <a:ln/>
          <a:effectLst>
            <a:outerShdw sx="100000" sy="100000" kx="0" ky="0" algn="bl" rotWithShape="0" blurRad="101600" dist="25400" dir="5400000">
              <a:srgbClr val="94A3B8">
                <a:alpha val="28000"/>
              </a:srgbClr>
            </a:outerShdw>
          </a:effectLst>
        </p:spPr>
      </p:sp>
      <p:sp>
        <p:nvSpPr>
          <p:cNvPr id="17" name="Text 15"/>
          <p:cNvSpPr/>
          <p:nvPr/>
        </p:nvSpPr>
        <p:spPr>
          <a:xfrm>
            <a:off x="822960" y="4709160"/>
            <a:ext cx="3200400" cy="548640"/>
          </a:xfrm>
          <a:prstGeom prst="rect">
            <a:avLst/>
          </a:prstGeom>
          <a:noFill/>
          <a:ln/>
        </p:spPr>
        <p:txBody>
          <a:bodyPr wrap="square" lIns="0" tIns="0" rIns="0" bIns="0" rtlCol="0" anchor="ctr"/>
          <a:lstStyle/>
          <a:p>
            <a:pPr indent="0" marL="0">
              <a:buNone/>
            </a:pPr>
            <a:r>
              <a:rPr lang="en-US" sz="1300" b="1" dirty="0">
                <a:solidFill>
                  <a:srgbClr val="5E35B1"/>
                </a:solidFill>
                <a:latin typeface="Calibri" pitchFamily="34" charset="0"/>
                <a:ea typeface="Calibri" pitchFamily="34" charset="-122"/>
                <a:cs typeface="Calibri" pitchFamily="34" charset="-120"/>
              </a:rPr>
              <a:t>Guide's Qualification</a:t>
            </a:r>
            <a:endParaRPr lang="en-US" sz="1300" dirty="0"/>
          </a:p>
        </p:txBody>
      </p:sp>
      <p:sp>
        <p:nvSpPr>
          <p:cNvPr id="18" name="Text 16"/>
          <p:cNvSpPr/>
          <p:nvPr/>
        </p:nvSpPr>
        <p:spPr>
          <a:xfrm>
            <a:off x="4114800" y="4709160"/>
            <a:ext cx="731520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Level (NIELIT); M.Sc. Computer Science (MGSU Bikaner)</a:t>
            </a:r>
            <a:endParaRPr lang="en-US" sz="1250" dirty="0"/>
          </a:p>
        </p:txBody>
      </p:sp>
      <p:sp>
        <p:nvSpPr>
          <p:cNvPr id="19" name="Shape 17"/>
          <p:cNvSpPr/>
          <p:nvPr/>
        </p:nvSpPr>
        <p:spPr>
          <a:xfrm>
            <a:off x="548640" y="5440680"/>
            <a:ext cx="11064240" cy="640080"/>
          </a:xfrm>
          <a:prstGeom prst="roundRect">
            <a:avLst>
              <a:gd name="adj" fmla="val 17143"/>
            </a:avLst>
          </a:prstGeom>
          <a:solidFill>
            <a:srgbClr val="F2F5F9"/>
          </a:solidFill>
          <a:ln/>
          <a:effectLst>
            <a:outerShdw sx="100000" sy="100000" kx="0" ky="0" algn="bl" rotWithShape="0" blurRad="101600" dist="25400" dir="5400000">
              <a:srgbClr val="94A3B8">
                <a:alpha val="28000"/>
              </a:srgbClr>
            </a:outerShdw>
          </a:effectLst>
        </p:spPr>
      </p:sp>
      <p:sp>
        <p:nvSpPr>
          <p:cNvPr id="20" name="Text 18"/>
          <p:cNvSpPr/>
          <p:nvPr/>
        </p:nvSpPr>
        <p:spPr>
          <a:xfrm>
            <a:off x="822960" y="5486400"/>
            <a:ext cx="3200400" cy="548640"/>
          </a:xfrm>
          <a:prstGeom prst="rect">
            <a:avLst/>
          </a:prstGeom>
          <a:noFill/>
          <a:ln/>
        </p:spPr>
        <p:txBody>
          <a:bodyPr wrap="square" lIns="0" tIns="0" rIns="0" bIns="0" rtlCol="0" anchor="ctr"/>
          <a:lstStyle/>
          <a:p>
            <a:pPr indent="0" marL="0">
              <a:buNone/>
            </a:pPr>
            <a:r>
              <a:rPr lang="en-US" sz="1300" b="1" dirty="0">
                <a:solidFill>
                  <a:srgbClr val="5E35B1"/>
                </a:solidFill>
                <a:latin typeface="Calibri" pitchFamily="34" charset="0"/>
                <a:ea typeface="Calibri" pitchFamily="34" charset="-122"/>
                <a:cs typeface="Calibri" pitchFamily="34" charset="-120"/>
              </a:rPr>
              <a:t>Head of Organization</a:t>
            </a:r>
            <a:endParaRPr lang="en-US" sz="1300" dirty="0"/>
          </a:p>
        </p:txBody>
      </p:sp>
      <p:sp>
        <p:nvSpPr>
          <p:cNvPr id="21" name="Text 19"/>
          <p:cNvSpPr/>
          <p:nvPr/>
        </p:nvSpPr>
        <p:spPr>
          <a:xfrm>
            <a:off x="4114800" y="5486400"/>
            <a:ext cx="7315200" cy="54864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Tarun Verma</a:t>
            </a:r>
            <a:endParaRPr lang="en-US" sz="1250" dirty="0"/>
          </a:p>
        </p:txBody>
      </p:sp>
      <p:sp>
        <p:nvSpPr>
          <p:cNvPr id="22" name="Text 20"/>
          <p:cNvSpPr/>
          <p:nvPr/>
        </p:nvSpPr>
        <p:spPr>
          <a:xfrm>
            <a:off x="548640" y="6263640"/>
            <a:ext cx="11064240" cy="365760"/>
          </a:xfrm>
          <a:prstGeom prst="rect">
            <a:avLst/>
          </a:prstGeom>
          <a:noFill/>
          <a:ln/>
        </p:spPr>
        <p:txBody>
          <a:bodyPr wrap="square" lIns="0" tIns="0" rIns="0" bIns="0" rtlCol="0" anchor="ctr"/>
          <a:lstStyle/>
          <a:p>
            <a:pPr algn="ctr" indent="0" marL="0">
              <a:buNone/>
            </a:pPr>
            <a:r>
              <a:rPr lang="en-US" sz="1100" i="1" dirty="0">
                <a:solidFill>
                  <a:srgbClr val="5F6B7A"/>
                </a:solidFill>
                <a:latin typeface="Calibri" pitchFamily="34" charset="0"/>
                <a:ea typeface="Calibri" pitchFamily="34" charset="-122"/>
                <a:cs typeface="Calibri" pitchFamily="34" charset="-120"/>
              </a:rPr>
              <a:t>Matches the Project Completion Certificate proforma exactly, for consistency across your report, PPT and certificate.</a:t>
            </a:r>
            <a:endParaRPr lang="en-US" sz="1100" dirty="0"/>
          </a:p>
        </p:txBody>
      </p:sp>
      <p:sp>
        <p:nvSpPr>
          <p:cNvPr id="23" name="Text 21"/>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9AA7B5"/>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243E"/>
        </a:solidFill>
      </p:bgPr>
    </p:bg>
    <p:spTree>
      <p:nvGrpSpPr>
        <p:cNvPr id="1" name=""/>
        <p:cNvGrpSpPr/>
        <p:nvPr/>
      </p:nvGrpSpPr>
      <p:grpSpPr>
        <a:xfrm>
          <a:off x="0" y="0"/>
          <a:ext cx="0" cy="0"/>
          <a:chOff x="0" y="0"/>
          <a:chExt cx="0" cy="0"/>
        </a:xfrm>
      </p:grpSpPr>
      <p:sp>
        <p:nvSpPr>
          <p:cNvPr id="2" name="Text 0"/>
          <p:cNvSpPr/>
          <p:nvPr/>
        </p:nvSpPr>
        <p:spPr>
          <a:xfrm>
            <a:off x="777240" y="457200"/>
            <a:ext cx="5486400" cy="365760"/>
          </a:xfrm>
          <a:prstGeom prst="rect">
            <a:avLst/>
          </a:prstGeom>
          <a:noFill/>
          <a:ln/>
        </p:spPr>
        <p:txBody>
          <a:bodyPr wrap="square" lIns="0" tIns="0" rIns="0" bIns="0" rtlCol="0" anchor="ctr"/>
          <a:lstStyle/>
          <a:p>
            <a:pPr indent="0" marL="0">
              <a:buNone/>
            </a:pPr>
            <a:r>
              <a:rPr lang="en-US" sz="1400" b="1" spc="400" kern="0" dirty="0">
                <a:solidFill>
                  <a:srgbClr val="FFB300"/>
                </a:solidFill>
                <a:latin typeface="Calibri" pitchFamily="34" charset="0"/>
                <a:ea typeface="Calibri" pitchFamily="34" charset="-122"/>
                <a:cs typeface="Calibri" pitchFamily="34" charset="-120"/>
              </a:rPr>
              <a:t>THANK YOU</a:t>
            </a:r>
            <a:endParaRPr lang="en-US" sz="1400" dirty="0"/>
          </a:p>
        </p:txBody>
      </p:sp>
      <p:sp>
        <p:nvSpPr>
          <p:cNvPr id="3" name="Text 1"/>
          <p:cNvSpPr/>
          <p:nvPr/>
        </p:nvSpPr>
        <p:spPr>
          <a:xfrm>
            <a:off x="731520" y="86868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Questions &amp; Viva</a:t>
            </a:r>
            <a:endParaRPr lang="en-US" sz="3600" dirty="0"/>
          </a:p>
        </p:txBody>
      </p:sp>
      <p:sp>
        <p:nvSpPr>
          <p:cNvPr id="4" name="Text 2"/>
          <p:cNvSpPr/>
          <p:nvPr/>
        </p:nvSpPr>
        <p:spPr>
          <a:xfrm>
            <a:off x="731520" y="1783080"/>
            <a:ext cx="10972800" cy="36576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Be ready for questions in these areas:</a:t>
            </a:r>
            <a:endParaRPr lang="en-US" sz="1400" dirty="0"/>
          </a:p>
        </p:txBody>
      </p:sp>
      <p:sp>
        <p:nvSpPr>
          <p:cNvPr id="5" name="Shape 3"/>
          <p:cNvSpPr/>
          <p:nvPr/>
        </p:nvSpPr>
        <p:spPr>
          <a:xfrm>
            <a:off x="731520" y="2286000"/>
            <a:ext cx="5303520" cy="1143000"/>
          </a:xfrm>
          <a:prstGeom prst="roundRect">
            <a:avLst>
              <a:gd name="adj" fmla="val 9600"/>
            </a:avLst>
          </a:prstGeom>
          <a:solidFill>
            <a:srgbClr val="1B3A5F"/>
          </a:solidFill>
          <a:ln/>
        </p:spPr>
      </p:sp>
      <p:sp>
        <p:nvSpPr>
          <p:cNvPr id="6" name="Shape 4"/>
          <p:cNvSpPr/>
          <p:nvPr/>
        </p:nvSpPr>
        <p:spPr>
          <a:xfrm>
            <a:off x="914400" y="2615184"/>
            <a:ext cx="457200" cy="457200"/>
          </a:xfrm>
          <a:prstGeom prst="ellipse">
            <a:avLst/>
          </a:prstGeom>
          <a:solidFill>
            <a:srgbClr val="E53935"/>
          </a:solidFill>
          <a:ln/>
        </p:spPr>
      </p:sp>
      <p:sp>
        <p:nvSpPr>
          <p:cNvPr id="7" name="Text 5"/>
          <p:cNvSpPr/>
          <p:nvPr/>
        </p:nvSpPr>
        <p:spPr>
          <a:xfrm>
            <a:off x="1508760" y="2359152"/>
            <a:ext cx="4389120" cy="310896"/>
          </a:xfrm>
          <a:prstGeom prst="rect">
            <a:avLst/>
          </a:prstGeom>
          <a:noFill/>
          <a:ln/>
        </p:spPr>
        <p:txBody>
          <a:bodyPr wrap="square" lIns="0" tIns="0" rIns="0" bIns="0" rtlCol="0" anchor="ctr"/>
          <a:lstStyle/>
          <a:p>
            <a:pPr indent="0" marL="0">
              <a:buNone/>
            </a:pPr>
            <a:r>
              <a:rPr lang="en-US" sz="1350" b="1" dirty="0">
                <a:solidFill>
                  <a:srgbClr val="FFB300"/>
                </a:solidFill>
                <a:latin typeface="Cambria" pitchFamily="34" charset="0"/>
                <a:ea typeface="Cambria" pitchFamily="34" charset="-122"/>
                <a:cs typeface="Cambria" pitchFamily="34" charset="-120"/>
              </a:rPr>
              <a:t>Why these libraries?</a:t>
            </a:r>
            <a:endParaRPr lang="en-US" sz="1350" dirty="0"/>
          </a:p>
        </p:txBody>
      </p:sp>
      <p:sp>
        <p:nvSpPr>
          <p:cNvPr id="8" name="Text 6"/>
          <p:cNvSpPr/>
          <p:nvPr/>
        </p:nvSpPr>
        <p:spPr>
          <a:xfrm>
            <a:off x="1508760" y="2688336"/>
            <a:ext cx="4434840" cy="685800"/>
          </a:xfrm>
          <a:prstGeom prst="rect">
            <a:avLst/>
          </a:prstGeom>
          <a:noFill/>
          <a:ln/>
        </p:spPr>
        <p:txBody>
          <a:bodyPr wrap="square" lIns="0" tIns="0" rIns="0" bIns="0" rtlCol="0" anchor="ctr"/>
          <a:lstStyle/>
          <a:p>
            <a:pPr indent="0" marL="0">
              <a:buNone/>
            </a:pPr>
            <a:r>
              <a:rPr lang="en-US" sz="950" dirty="0">
                <a:solidFill>
                  <a:srgbClr val="D9E2EE"/>
                </a:solidFill>
                <a:latin typeface="Calibri" pitchFamily="34" charset="0"/>
                <a:ea typeface="Calibri" pitchFamily="34" charset="-122"/>
                <a:cs typeface="Calibri" pitchFamily="34" charset="-120"/>
              </a:rPr>
              <a:t>Why MoviePy for video, SciPy for WAV, and noisereduce instead of writing FFT/filtering by hand?</a:t>
            </a:r>
            <a:endParaRPr lang="en-US" sz="950" dirty="0"/>
          </a:p>
        </p:txBody>
      </p:sp>
      <p:sp>
        <p:nvSpPr>
          <p:cNvPr id="9" name="Shape 7"/>
          <p:cNvSpPr/>
          <p:nvPr/>
        </p:nvSpPr>
        <p:spPr>
          <a:xfrm>
            <a:off x="6263640" y="2286000"/>
            <a:ext cx="5303520" cy="1143000"/>
          </a:xfrm>
          <a:prstGeom prst="roundRect">
            <a:avLst>
              <a:gd name="adj" fmla="val 9600"/>
            </a:avLst>
          </a:prstGeom>
          <a:solidFill>
            <a:srgbClr val="1B3A5F"/>
          </a:solidFill>
          <a:ln/>
        </p:spPr>
      </p:sp>
      <p:sp>
        <p:nvSpPr>
          <p:cNvPr id="10" name="Shape 8"/>
          <p:cNvSpPr/>
          <p:nvPr/>
        </p:nvSpPr>
        <p:spPr>
          <a:xfrm>
            <a:off x="6446520" y="2615184"/>
            <a:ext cx="457200" cy="457200"/>
          </a:xfrm>
          <a:prstGeom prst="ellipse">
            <a:avLst/>
          </a:prstGeom>
          <a:solidFill>
            <a:srgbClr val="1E88E5"/>
          </a:solidFill>
          <a:ln/>
        </p:spPr>
      </p:sp>
      <p:sp>
        <p:nvSpPr>
          <p:cNvPr id="11" name="Text 9"/>
          <p:cNvSpPr/>
          <p:nvPr/>
        </p:nvSpPr>
        <p:spPr>
          <a:xfrm>
            <a:off x="7040880" y="2359152"/>
            <a:ext cx="4389120" cy="310896"/>
          </a:xfrm>
          <a:prstGeom prst="rect">
            <a:avLst/>
          </a:prstGeom>
          <a:noFill/>
          <a:ln/>
        </p:spPr>
        <p:txBody>
          <a:bodyPr wrap="square" lIns="0" tIns="0" rIns="0" bIns="0" rtlCol="0" anchor="ctr"/>
          <a:lstStyle/>
          <a:p>
            <a:pPr indent="0" marL="0">
              <a:buNone/>
            </a:pPr>
            <a:r>
              <a:rPr lang="en-US" sz="1350" b="1" dirty="0">
                <a:solidFill>
                  <a:srgbClr val="FFB300"/>
                </a:solidFill>
                <a:latin typeface="Cambria" pitchFamily="34" charset="0"/>
                <a:ea typeface="Cambria" pitchFamily="34" charset="-122"/>
                <a:cs typeface="Cambria" pitchFamily="34" charset="-120"/>
              </a:rPr>
              <a:t>The noise_sample choice</a:t>
            </a:r>
            <a:endParaRPr lang="en-US" sz="1350" dirty="0"/>
          </a:p>
        </p:txBody>
      </p:sp>
      <p:sp>
        <p:nvSpPr>
          <p:cNvPr id="12" name="Text 10"/>
          <p:cNvSpPr/>
          <p:nvPr/>
        </p:nvSpPr>
        <p:spPr>
          <a:xfrm>
            <a:off x="7040880" y="2688336"/>
            <a:ext cx="4434840" cy="685800"/>
          </a:xfrm>
          <a:prstGeom prst="rect">
            <a:avLst/>
          </a:prstGeom>
          <a:noFill/>
          <a:ln/>
        </p:spPr>
        <p:txBody>
          <a:bodyPr wrap="square" lIns="0" tIns="0" rIns="0" bIns="0" rtlCol="0" anchor="ctr"/>
          <a:lstStyle/>
          <a:p>
            <a:pPr indent="0" marL="0">
              <a:buNone/>
            </a:pPr>
            <a:r>
              <a:rPr lang="en-US" sz="950" dirty="0">
                <a:solidFill>
                  <a:srgbClr val="D9E2EE"/>
                </a:solidFill>
                <a:latin typeface="Calibri" pitchFamily="34" charset="0"/>
                <a:ea typeface="Calibri" pitchFamily="34" charset="-122"/>
                <a:cs typeface="Calibri" pitchFamily="34" charset="-120"/>
              </a:rPr>
              <a:t>Why data[:5000]? What happens if the clip opens with speech instead of silence?</a:t>
            </a:r>
            <a:endParaRPr lang="en-US" sz="950" dirty="0"/>
          </a:p>
        </p:txBody>
      </p:sp>
      <p:sp>
        <p:nvSpPr>
          <p:cNvPr id="13" name="Shape 11"/>
          <p:cNvSpPr/>
          <p:nvPr/>
        </p:nvSpPr>
        <p:spPr>
          <a:xfrm>
            <a:off x="731520" y="3611880"/>
            <a:ext cx="5303520" cy="1143000"/>
          </a:xfrm>
          <a:prstGeom prst="roundRect">
            <a:avLst>
              <a:gd name="adj" fmla="val 9600"/>
            </a:avLst>
          </a:prstGeom>
          <a:solidFill>
            <a:srgbClr val="1B3A5F"/>
          </a:solidFill>
          <a:ln/>
        </p:spPr>
      </p:sp>
      <p:sp>
        <p:nvSpPr>
          <p:cNvPr id="14" name="Shape 12"/>
          <p:cNvSpPr/>
          <p:nvPr/>
        </p:nvSpPr>
        <p:spPr>
          <a:xfrm>
            <a:off x="914400" y="3941064"/>
            <a:ext cx="457200" cy="457200"/>
          </a:xfrm>
          <a:prstGeom prst="ellipse">
            <a:avLst/>
          </a:prstGeom>
          <a:solidFill>
            <a:srgbClr val="2E7D32"/>
          </a:solidFill>
          <a:ln/>
        </p:spPr>
      </p:sp>
      <p:sp>
        <p:nvSpPr>
          <p:cNvPr id="15" name="Text 13"/>
          <p:cNvSpPr/>
          <p:nvPr/>
        </p:nvSpPr>
        <p:spPr>
          <a:xfrm>
            <a:off x="1508760" y="3685032"/>
            <a:ext cx="4389120" cy="310896"/>
          </a:xfrm>
          <a:prstGeom prst="rect">
            <a:avLst/>
          </a:prstGeom>
          <a:noFill/>
          <a:ln/>
        </p:spPr>
        <p:txBody>
          <a:bodyPr wrap="square" lIns="0" tIns="0" rIns="0" bIns="0" rtlCol="0" anchor="ctr"/>
          <a:lstStyle/>
          <a:p>
            <a:pPr indent="0" marL="0">
              <a:buNone/>
            </a:pPr>
            <a:r>
              <a:rPr lang="en-US" sz="1350" b="1" dirty="0">
                <a:solidFill>
                  <a:srgbClr val="FFB300"/>
                </a:solidFill>
                <a:latin typeface="Cambria" pitchFamily="34" charset="0"/>
                <a:ea typeface="Cambria" pitchFamily="34" charset="-122"/>
                <a:cs typeface="Cambria" pitchFamily="34" charset="-120"/>
              </a:rPr>
              <a:t>FFmpeg command</a:t>
            </a:r>
            <a:endParaRPr lang="en-US" sz="1350" dirty="0"/>
          </a:p>
        </p:txBody>
      </p:sp>
      <p:sp>
        <p:nvSpPr>
          <p:cNvPr id="16" name="Text 14"/>
          <p:cNvSpPr/>
          <p:nvPr/>
        </p:nvSpPr>
        <p:spPr>
          <a:xfrm>
            <a:off x="1508760" y="4014216"/>
            <a:ext cx="4434840" cy="685800"/>
          </a:xfrm>
          <a:prstGeom prst="rect">
            <a:avLst/>
          </a:prstGeom>
          <a:noFill/>
          <a:ln/>
        </p:spPr>
        <p:txBody>
          <a:bodyPr wrap="square" lIns="0" tIns="0" rIns="0" bIns="0" rtlCol="0" anchor="ctr"/>
          <a:lstStyle/>
          <a:p>
            <a:pPr indent="0" marL="0">
              <a:buNone/>
            </a:pPr>
            <a:r>
              <a:rPr lang="en-US" sz="950" dirty="0">
                <a:solidFill>
                  <a:srgbClr val="D9E2EE"/>
                </a:solidFill>
                <a:latin typeface="Calibri" pitchFamily="34" charset="0"/>
                <a:ea typeface="Calibri" pitchFamily="34" charset="-122"/>
                <a:cs typeface="Calibri" pitchFamily="34" charset="-120"/>
              </a:rPr>
              <a:t>What does "-c:v copy" do and why does it matter for speed and quality?</a:t>
            </a:r>
            <a:endParaRPr lang="en-US" sz="950" dirty="0"/>
          </a:p>
        </p:txBody>
      </p:sp>
      <p:sp>
        <p:nvSpPr>
          <p:cNvPr id="17" name="Shape 15"/>
          <p:cNvSpPr/>
          <p:nvPr/>
        </p:nvSpPr>
        <p:spPr>
          <a:xfrm>
            <a:off x="6263640" y="3611880"/>
            <a:ext cx="5303520" cy="1143000"/>
          </a:xfrm>
          <a:prstGeom prst="roundRect">
            <a:avLst>
              <a:gd name="adj" fmla="val 9600"/>
            </a:avLst>
          </a:prstGeom>
          <a:solidFill>
            <a:srgbClr val="1B3A5F"/>
          </a:solidFill>
          <a:ln/>
        </p:spPr>
      </p:sp>
      <p:sp>
        <p:nvSpPr>
          <p:cNvPr id="18" name="Shape 16"/>
          <p:cNvSpPr/>
          <p:nvPr/>
        </p:nvSpPr>
        <p:spPr>
          <a:xfrm>
            <a:off x="6446520" y="3941064"/>
            <a:ext cx="457200" cy="457200"/>
          </a:xfrm>
          <a:prstGeom prst="ellipse">
            <a:avLst/>
          </a:prstGeom>
          <a:solidFill>
            <a:srgbClr val="5E35B1"/>
          </a:solidFill>
          <a:ln/>
        </p:spPr>
      </p:sp>
      <p:sp>
        <p:nvSpPr>
          <p:cNvPr id="19" name="Text 17"/>
          <p:cNvSpPr/>
          <p:nvPr/>
        </p:nvSpPr>
        <p:spPr>
          <a:xfrm>
            <a:off x="7040880" y="3685032"/>
            <a:ext cx="4389120" cy="310896"/>
          </a:xfrm>
          <a:prstGeom prst="rect">
            <a:avLst/>
          </a:prstGeom>
          <a:noFill/>
          <a:ln/>
        </p:spPr>
        <p:txBody>
          <a:bodyPr wrap="square" lIns="0" tIns="0" rIns="0" bIns="0" rtlCol="0" anchor="ctr"/>
          <a:lstStyle/>
          <a:p>
            <a:pPr indent="0" marL="0">
              <a:buNone/>
            </a:pPr>
            <a:r>
              <a:rPr lang="en-US" sz="1350" b="1" dirty="0">
                <a:solidFill>
                  <a:srgbClr val="FFB300"/>
                </a:solidFill>
                <a:latin typeface="Cambria" pitchFamily="34" charset="0"/>
                <a:ea typeface="Cambria" pitchFamily="34" charset="-122"/>
                <a:cs typeface="Cambria" pitchFamily="34" charset="-120"/>
              </a:rPr>
              <a:t>Error handling</a:t>
            </a:r>
            <a:endParaRPr lang="en-US" sz="1350" dirty="0"/>
          </a:p>
        </p:txBody>
      </p:sp>
      <p:sp>
        <p:nvSpPr>
          <p:cNvPr id="20" name="Text 18"/>
          <p:cNvSpPr/>
          <p:nvPr/>
        </p:nvSpPr>
        <p:spPr>
          <a:xfrm>
            <a:off x="7040880" y="4014216"/>
            <a:ext cx="4434840" cy="685800"/>
          </a:xfrm>
          <a:prstGeom prst="rect">
            <a:avLst/>
          </a:prstGeom>
          <a:noFill/>
          <a:ln/>
        </p:spPr>
        <p:txBody>
          <a:bodyPr wrap="square" lIns="0" tIns="0" rIns="0" bIns="0" rtlCol="0" anchor="ctr"/>
          <a:lstStyle/>
          <a:p>
            <a:pPr indent="0" marL="0">
              <a:buNone/>
            </a:pPr>
            <a:r>
              <a:rPr lang="en-US" sz="950" dirty="0">
                <a:solidFill>
                  <a:srgbClr val="D9E2EE"/>
                </a:solidFill>
                <a:latin typeface="Calibri" pitchFamily="34" charset="0"/>
                <a:ea typeface="Calibri" pitchFamily="34" charset="-122"/>
                <a:cs typeface="Calibri" pitchFamily="34" charset="-120"/>
              </a:rPr>
              <a:t>Walk through the try/except/finally block — what happens if FFmpeg fails?</a:t>
            </a:r>
            <a:endParaRPr lang="en-US" sz="950" dirty="0"/>
          </a:p>
        </p:txBody>
      </p:sp>
      <p:sp>
        <p:nvSpPr>
          <p:cNvPr id="21" name="Shape 19"/>
          <p:cNvSpPr/>
          <p:nvPr/>
        </p:nvSpPr>
        <p:spPr>
          <a:xfrm>
            <a:off x="731520" y="4937760"/>
            <a:ext cx="5303520" cy="1143000"/>
          </a:xfrm>
          <a:prstGeom prst="roundRect">
            <a:avLst>
              <a:gd name="adj" fmla="val 9600"/>
            </a:avLst>
          </a:prstGeom>
          <a:solidFill>
            <a:srgbClr val="1B3A5F"/>
          </a:solidFill>
          <a:ln/>
        </p:spPr>
      </p:sp>
      <p:sp>
        <p:nvSpPr>
          <p:cNvPr id="22" name="Shape 20"/>
          <p:cNvSpPr/>
          <p:nvPr/>
        </p:nvSpPr>
        <p:spPr>
          <a:xfrm>
            <a:off x="914400" y="5266944"/>
            <a:ext cx="457200" cy="457200"/>
          </a:xfrm>
          <a:prstGeom prst="ellipse">
            <a:avLst/>
          </a:prstGeom>
          <a:solidFill>
            <a:srgbClr val="FFB300"/>
          </a:solidFill>
          <a:ln/>
        </p:spPr>
      </p:sp>
      <p:sp>
        <p:nvSpPr>
          <p:cNvPr id="23" name="Text 21"/>
          <p:cNvSpPr/>
          <p:nvPr/>
        </p:nvSpPr>
        <p:spPr>
          <a:xfrm>
            <a:off x="1508760" y="5010912"/>
            <a:ext cx="4389120" cy="310896"/>
          </a:xfrm>
          <a:prstGeom prst="rect">
            <a:avLst/>
          </a:prstGeom>
          <a:noFill/>
          <a:ln/>
        </p:spPr>
        <p:txBody>
          <a:bodyPr wrap="square" lIns="0" tIns="0" rIns="0" bIns="0" rtlCol="0" anchor="ctr"/>
          <a:lstStyle/>
          <a:p>
            <a:pPr indent="0" marL="0">
              <a:buNone/>
            </a:pPr>
            <a:r>
              <a:rPr lang="en-US" sz="1350" b="1" dirty="0">
                <a:solidFill>
                  <a:srgbClr val="FFB300"/>
                </a:solidFill>
                <a:latin typeface="Cambria" pitchFamily="34" charset="0"/>
                <a:ea typeface="Cambria" pitchFamily="34" charset="-122"/>
                <a:cs typeface="Cambria" pitchFamily="34" charset="-120"/>
              </a:rPr>
              <a:t>Limitations</a:t>
            </a:r>
            <a:endParaRPr lang="en-US" sz="1350" dirty="0"/>
          </a:p>
        </p:txBody>
      </p:sp>
      <p:sp>
        <p:nvSpPr>
          <p:cNvPr id="24" name="Text 22"/>
          <p:cNvSpPr/>
          <p:nvPr/>
        </p:nvSpPr>
        <p:spPr>
          <a:xfrm>
            <a:off x="1508760" y="5340096"/>
            <a:ext cx="4434840" cy="685800"/>
          </a:xfrm>
          <a:prstGeom prst="rect">
            <a:avLst/>
          </a:prstGeom>
          <a:noFill/>
          <a:ln/>
        </p:spPr>
        <p:txBody>
          <a:bodyPr wrap="square" lIns="0" tIns="0" rIns="0" bIns="0" rtlCol="0" anchor="ctr"/>
          <a:lstStyle/>
          <a:p>
            <a:pPr indent="0" marL="0">
              <a:buNone/>
            </a:pPr>
            <a:r>
              <a:rPr lang="en-US" sz="950" dirty="0">
                <a:solidFill>
                  <a:srgbClr val="D9E2EE"/>
                </a:solidFill>
                <a:latin typeface="Calibri" pitchFamily="34" charset="0"/>
                <a:ea typeface="Calibri" pitchFamily="34" charset="-122"/>
                <a:cs typeface="Calibri" pitchFamily="34" charset="-120"/>
              </a:rPr>
              <a:t>What are the known weaknesses of this implementation, and how would you fix them?</a:t>
            </a:r>
            <a:endParaRPr lang="en-US" sz="950" dirty="0"/>
          </a:p>
        </p:txBody>
      </p:sp>
      <p:sp>
        <p:nvSpPr>
          <p:cNvPr id="25" name="Shape 23"/>
          <p:cNvSpPr/>
          <p:nvPr/>
        </p:nvSpPr>
        <p:spPr>
          <a:xfrm>
            <a:off x="6263640" y="4937760"/>
            <a:ext cx="5303520" cy="1143000"/>
          </a:xfrm>
          <a:prstGeom prst="roundRect">
            <a:avLst>
              <a:gd name="adj" fmla="val 9600"/>
            </a:avLst>
          </a:prstGeom>
          <a:solidFill>
            <a:srgbClr val="1B3A5F"/>
          </a:solidFill>
          <a:ln/>
        </p:spPr>
      </p:sp>
      <p:sp>
        <p:nvSpPr>
          <p:cNvPr id="26" name="Shape 24"/>
          <p:cNvSpPr/>
          <p:nvPr/>
        </p:nvSpPr>
        <p:spPr>
          <a:xfrm>
            <a:off x="6446520" y="5266944"/>
            <a:ext cx="457200" cy="457200"/>
          </a:xfrm>
          <a:prstGeom prst="ellipse">
            <a:avLst/>
          </a:prstGeom>
          <a:solidFill>
            <a:srgbClr val="00897B"/>
          </a:solidFill>
          <a:ln/>
        </p:spPr>
      </p:sp>
      <p:sp>
        <p:nvSpPr>
          <p:cNvPr id="27" name="Text 25"/>
          <p:cNvSpPr/>
          <p:nvPr/>
        </p:nvSpPr>
        <p:spPr>
          <a:xfrm>
            <a:off x="7040880" y="5010912"/>
            <a:ext cx="4389120" cy="310896"/>
          </a:xfrm>
          <a:prstGeom prst="rect">
            <a:avLst/>
          </a:prstGeom>
          <a:noFill/>
          <a:ln/>
        </p:spPr>
        <p:txBody>
          <a:bodyPr wrap="square" lIns="0" tIns="0" rIns="0" bIns="0" rtlCol="0" anchor="ctr"/>
          <a:lstStyle/>
          <a:p>
            <a:pPr indent="0" marL="0">
              <a:buNone/>
            </a:pPr>
            <a:r>
              <a:rPr lang="en-US" sz="1350" b="1" dirty="0">
                <a:solidFill>
                  <a:srgbClr val="FFB300"/>
                </a:solidFill>
                <a:latin typeface="Cambria" pitchFamily="34" charset="0"/>
                <a:ea typeface="Cambria" pitchFamily="34" charset="-122"/>
                <a:cs typeface="Cambria" pitchFamily="34" charset="-120"/>
              </a:rPr>
              <a:t>Comparison</a:t>
            </a:r>
            <a:endParaRPr lang="en-US" sz="1350" dirty="0"/>
          </a:p>
        </p:txBody>
      </p:sp>
      <p:sp>
        <p:nvSpPr>
          <p:cNvPr id="28" name="Text 26"/>
          <p:cNvSpPr/>
          <p:nvPr/>
        </p:nvSpPr>
        <p:spPr>
          <a:xfrm>
            <a:off x="7040880" y="5340096"/>
            <a:ext cx="4434840" cy="685800"/>
          </a:xfrm>
          <a:prstGeom prst="rect">
            <a:avLst/>
          </a:prstGeom>
          <a:noFill/>
          <a:ln/>
        </p:spPr>
        <p:txBody>
          <a:bodyPr wrap="square" lIns="0" tIns="0" rIns="0" bIns="0" rtlCol="0" anchor="ctr"/>
          <a:lstStyle/>
          <a:p>
            <a:pPr indent="0" marL="0">
              <a:buNone/>
            </a:pPr>
            <a:r>
              <a:rPr lang="en-US" sz="950" dirty="0">
                <a:solidFill>
                  <a:srgbClr val="D9E2EE"/>
                </a:solidFill>
                <a:latin typeface="Calibri" pitchFamily="34" charset="0"/>
                <a:ea typeface="Calibri" pitchFamily="34" charset="-122"/>
                <a:cs typeface="Calibri" pitchFamily="34" charset="-120"/>
              </a:rPr>
              <a:t>How is this different from just using Audacity's noise reduction manually?</a:t>
            </a:r>
            <a:endParaRPr lang="en-US" sz="950" dirty="0"/>
          </a:p>
        </p:txBody>
      </p:sp>
      <p:sp>
        <p:nvSpPr>
          <p:cNvPr id="29" name="Text 27"/>
          <p:cNvSpPr/>
          <p:nvPr/>
        </p:nvSpPr>
        <p:spPr>
          <a:xfrm>
            <a:off x="11475720" y="6473952"/>
            <a:ext cx="548640" cy="274320"/>
          </a:xfrm>
          <a:prstGeom prst="rect">
            <a:avLst/>
          </a:prstGeom>
          <a:noFill/>
          <a:ln/>
        </p:spPr>
        <p:txBody>
          <a:bodyPr wrap="square" lIns="0" tIns="0" rIns="0" bIns="0" rtlCol="0" anchor="ctr"/>
          <a:lstStyle/>
          <a:p>
            <a:pPr algn="r" indent="0" marL="0">
              <a:buNone/>
            </a:pPr>
            <a:r>
              <a:rPr lang="en-US" sz="1100" dirty="0">
                <a:solidFill>
                  <a:srgbClr val="8FA3BF"/>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2026-07-17T04:07:51Z</dcterms:created>
  <dcterms:modified xsi:type="dcterms:W3CDTF">2026-07-17T04:07:51Z</dcterms:modified>
</cp:coreProperties>
</file>